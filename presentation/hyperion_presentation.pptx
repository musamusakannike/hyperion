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F2D4CF"/>
          </a:solidFill>
          <a:ln w="381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48640"/>
            <a:ext cx="777240" cy="77724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hool-badge.jpeg"/>
          <p:cNvPicPr>
            <a:picLocks noChangeAspect="1"/>
          </p:cNvPicPr>
          <p:nvPr/>
        </p:nvPicPr>
        <p:blipFill>
          <a:blip r:embed="rId2"/>
          <a:stretch>
            <a:fillRect/>
          </a:stretch>
        </p:blipFill>
        <p:spPr>
          <a:xfrm>
            <a:off x="594360" y="594360"/>
            <a:ext cx="685800" cy="771525"/>
          </a:xfrm>
          <a:prstGeom prst="rect">
            <a:avLst/>
          </a:prstGeom>
        </p:spPr>
      </p:pic>
      <p:sp>
        <p:nvSpPr>
          <p:cNvPr id="5" name="TextBox 4"/>
          <p:cNvSpPr txBox="1"/>
          <p:nvPr/>
        </p:nvSpPr>
        <p:spPr>
          <a:xfrm>
            <a:off x="1463040" y="502920"/>
            <a:ext cx="4754880" cy="822960"/>
          </a:xfrm>
          <a:prstGeom prst="rect">
            <a:avLst/>
          </a:prstGeom>
          <a:noFill/>
        </p:spPr>
        <p:txBody>
          <a:bodyPr wrap="square">
            <a:spAutoFit/>
          </a:bodyPr>
          <a:lstStyle/>
          <a:p>
            <a:pPr>
              <a:defRPr sz="1000" b="1">
                <a:solidFill>
                  <a:srgbClr val="262626"/>
                </a:solidFill>
                <a:latin typeface="Arial Black"/>
              </a:defRPr>
            </a:pPr>
            <a:r>
              <a:t>UNIVERSITY OF ILORIN · SWEP GROUP H</a:t>
            </a:r>
          </a:p>
          <a:p>
            <a:pPr>
              <a:defRPr sz="1300" b="1">
                <a:solidFill>
                  <a:srgbClr val="0A0A0A"/>
                </a:solidFill>
                <a:latin typeface="Arial Black"/>
              </a:defRPr>
            </a:pPr>
            <a:r>
              <a:t>ENGINEERING EXHIBITION 2026</a:t>
            </a:r>
          </a:p>
        </p:txBody>
      </p:sp>
      <p:sp>
        <p:nvSpPr>
          <p:cNvPr id="6" name="TextBox 5"/>
          <p:cNvSpPr txBox="1"/>
          <p:nvPr/>
        </p:nvSpPr>
        <p:spPr>
          <a:xfrm>
            <a:off x="548640" y="2011680"/>
            <a:ext cx="5669280" cy="2926080"/>
          </a:xfrm>
          <a:prstGeom prst="rect">
            <a:avLst/>
          </a:prstGeom>
          <a:noFill/>
        </p:spPr>
        <p:txBody>
          <a:bodyPr wrap="square">
            <a:spAutoFit/>
          </a:bodyPr>
          <a:lstStyle/>
          <a:p>
            <a:pPr>
              <a:spcAft>
                <a:spcPts val="1400"/>
              </a:spcAft>
              <a:defRPr sz="3600" b="1">
                <a:solidFill>
                  <a:srgbClr val="0A0A0A"/>
                </a:solidFill>
                <a:latin typeface="Arial Black"/>
              </a:defRPr>
            </a:pPr>
            <a:r>
              <a:t>SMART CASHLESS</a:t>
            </a:r>
            <a:br/>
            <a:r>
              <a:t>CAMPUS TRANSIT.</a:t>
            </a:r>
          </a:p>
          <a:p>
            <a:pPr>
              <a:defRPr sz="1500" b="1">
                <a:solidFill>
                  <a:srgbClr val="262626"/>
                </a:solidFill>
                <a:latin typeface="Arial"/>
              </a:defRPr>
            </a:pPr>
            <a:r>
              <a:t>A smart bus payment and tracking system using tap cards and phone scans</a:t>
            </a:r>
          </a:p>
        </p:txBody>
      </p:sp>
      <p:sp>
        <p:nvSpPr>
          <p:cNvPr id="7" name="Rectangle 6"/>
          <p:cNvSpPr/>
          <p:nvPr/>
        </p:nvSpPr>
        <p:spPr>
          <a:xfrm>
            <a:off x="548640" y="5669280"/>
            <a:ext cx="2743200" cy="45720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latin typeface="Arial Black"/>
              </a:defRPr>
            </a:pPr>
            <a:r>
              <a:t>DEFENSE DEMO · OCT 2026</a:t>
            </a:r>
          </a:p>
        </p:txBody>
      </p:sp>
      <p:sp>
        <p:nvSpPr>
          <p:cNvPr id="8" name="Rectangle 7"/>
          <p:cNvSpPr/>
          <p:nvPr/>
        </p:nvSpPr>
        <p:spPr>
          <a:xfrm>
            <a:off x="6583680" y="0"/>
            <a:ext cx="5608015" cy="6858000"/>
          </a:xfrm>
          <a:prstGeom prst="rect">
            <a:avLst/>
          </a:prstGeom>
          <a:solidFill>
            <a:srgbClr val="FFFFFF"/>
          </a:solidFill>
          <a:ln w="381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0"/>
            <a:ext cx="5608015" cy="1143000"/>
          </a:xfrm>
          <a:prstGeom prst="rect">
            <a:avLst/>
          </a:prstGeom>
          <a:solidFill>
            <a:srgbClr val="E5EDD6"/>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292608"/>
            <a:ext cx="4876495" cy="548640"/>
          </a:xfrm>
          <a:prstGeom prst="rect">
            <a:avLst/>
          </a:prstGeom>
          <a:noFill/>
        </p:spPr>
        <p:txBody>
          <a:bodyPr wrap="square">
            <a:spAutoFit/>
          </a:bodyPr>
          <a:lstStyle/>
          <a:p>
            <a:pPr>
              <a:defRPr sz="1200" b="1">
                <a:solidFill>
                  <a:srgbClr val="0A0A0A"/>
                </a:solidFill>
                <a:latin typeface="Arial Black"/>
              </a:defRPr>
            </a:pPr>
            <a:r>
              <a:t>→  1. CAMPUS TRANSIT CRISIS &amp; SOLUTION</a:t>
            </a:r>
          </a:p>
        </p:txBody>
      </p:sp>
      <p:sp>
        <p:nvSpPr>
          <p:cNvPr id="11" name="Rectangle 10"/>
          <p:cNvSpPr/>
          <p:nvPr/>
        </p:nvSpPr>
        <p:spPr>
          <a:xfrm>
            <a:off x="6583680" y="1143000"/>
            <a:ext cx="5608015" cy="1143000"/>
          </a:xfrm>
          <a:prstGeom prst="rect">
            <a:avLst/>
          </a:prstGeom>
          <a:solidFill>
            <a:srgbClr val="FFFFF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1435608"/>
            <a:ext cx="4876495" cy="548640"/>
          </a:xfrm>
          <a:prstGeom prst="rect">
            <a:avLst/>
          </a:prstGeom>
          <a:noFill/>
        </p:spPr>
        <p:txBody>
          <a:bodyPr wrap="square">
            <a:spAutoFit/>
          </a:bodyPr>
          <a:lstStyle/>
          <a:p>
            <a:pPr>
              <a:defRPr sz="1200" b="1">
                <a:solidFill>
                  <a:srgbClr val="0A0A0A"/>
                </a:solidFill>
                <a:latin typeface="Arial Black"/>
              </a:defRPr>
            </a:pPr>
            <a:r>
              <a:t>→  2. FULL-STACK SYSTEM ARCHITECTURE</a:t>
            </a:r>
          </a:p>
        </p:txBody>
      </p:sp>
      <p:sp>
        <p:nvSpPr>
          <p:cNvPr id="13" name="Rectangle 12"/>
          <p:cNvSpPr/>
          <p:nvPr/>
        </p:nvSpPr>
        <p:spPr>
          <a:xfrm>
            <a:off x="6583680" y="2286000"/>
            <a:ext cx="5608015" cy="1143000"/>
          </a:xfrm>
          <a:prstGeom prst="rect">
            <a:avLst/>
          </a:prstGeom>
          <a:solidFill>
            <a:srgbClr val="FFFFF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2578608"/>
            <a:ext cx="4876495" cy="548640"/>
          </a:xfrm>
          <a:prstGeom prst="rect">
            <a:avLst/>
          </a:prstGeom>
          <a:noFill/>
        </p:spPr>
        <p:txBody>
          <a:bodyPr wrap="square">
            <a:spAutoFit/>
          </a:bodyPr>
          <a:lstStyle/>
          <a:p>
            <a:pPr>
              <a:defRPr sz="1200" b="1">
                <a:solidFill>
                  <a:srgbClr val="0A0A0A"/>
                </a:solidFill>
                <a:latin typeface="Arial Black"/>
              </a:defRPr>
            </a:pPr>
            <a:r>
              <a:t>→  3. ESP32 VALIDATOR POD</a:t>
            </a:r>
          </a:p>
        </p:txBody>
      </p:sp>
      <p:sp>
        <p:nvSpPr>
          <p:cNvPr id="15" name="Rectangle 14"/>
          <p:cNvSpPr/>
          <p:nvPr/>
        </p:nvSpPr>
        <p:spPr>
          <a:xfrm>
            <a:off x="6583680" y="3429000"/>
            <a:ext cx="5608015" cy="1143000"/>
          </a:xfrm>
          <a:prstGeom prst="rect">
            <a:avLst/>
          </a:prstGeom>
          <a:solidFill>
            <a:srgbClr val="FFFFF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3721608"/>
            <a:ext cx="4876495" cy="548640"/>
          </a:xfrm>
          <a:prstGeom prst="rect">
            <a:avLst/>
          </a:prstGeom>
          <a:noFill/>
        </p:spPr>
        <p:txBody>
          <a:bodyPr wrap="square">
            <a:spAutoFit/>
          </a:bodyPr>
          <a:lstStyle/>
          <a:p>
            <a:pPr>
              <a:defRPr sz="1200" b="1">
                <a:solidFill>
                  <a:srgbClr val="0A0A0A"/>
                </a:solidFill>
                <a:latin typeface="Arial Black"/>
              </a:defRPr>
            </a:pPr>
            <a:r>
              <a:t>→  4. OFFLINE RESILIENCE</a:t>
            </a:r>
          </a:p>
        </p:txBody>
      </p:sp>
      <p:sp>
        <p:nvSpPr>
          <p:cNvPr id="17" name="Rectangle 16"/>
          <p:cNvSpPr/>
          <p:nvPr/>
        </p:nvSpPr>
        <p:spPr>
          <a:xfrm>
            <a:off x="6583680" y="4572000"/>
            <a:ext cx="5608015" cy="1143000"/>
          </a:xfrm>
          <a:prstGeom prst="rect">
            <a:avLst/>
          </a:prstGeom>
          <a:solidFill>
            <a:srgbClr val="FFFFF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4864608"/>
            <a:ext cx="4876495" cy="548640"/>
          </a:xfrm>
          <a:prstGeom prst="rect">
            <a:avLst/>
          </a:prstGeom>
          <a:noFill/>
        </p:spPr>
        <p:txBody>
          <a:bodyPr wrap="square">
            <a:spAutoFit/>
          </a:bodyPr>
          <a:lstStyle/>
          <a:p>
            <a:pPr>
              <a:defRPr sz="1200" b="1">
                <a:solidFill>
                  <a:srgbClr val="0A0A0A"/>
                </a:solidFill>
                <a:latin typeface="Arial Black"/>
              </a:defRPr>
            </a:pPr>
            <a:r>
              <a:t>→  5. AUTOMATED PAYSTACK WALLET SYSTEM</a:t>
            </a:r>
          </a:p>
        </p:txBody>
      </p:sp>
      <p:sp>
        <p:nvSpPr>
          <p:cNvPr id="19" name="Rectangle 18"/>
          <p:cNvSpPr/>
          <p:nvPr/>
        </p:nvSpPr>
        <p:spPr>
          <a:xfrm>
            <a:off x="6583680" y="5715000"/>
            <a:ext cx="5608015" cy="1143000"/>
          </a:xfrm>
          <a:prstGeom prst="rect">
            <a:avLst/>
          </a:prstGeom>
          <a:solidFill>
            <a:srgbClr val="FFFFF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6007608"/>
            <a:ext cx="4876495" cy="548640"/>
          </a:xfrm>
          <a:prstGeom prst="rect">
            <a:avLst/>
          </a:prstGeom>
          <a:noFill/>
        </p:spPr>
        <p:txBody>
          <a:bodyPr wrap="square">
            <a:spAutoFit/>
          </a:bodyPr>
          <a:lstStyle/>
          <a:p>
            <a:pPr>
              <a:defRPr sz="1200" b="1">
                <a:solidFill>
                  <a:srgbClr val="0A0A0A"/>
                </a:solidFill>
                <a:latin typeface="Arial Black"/>
              </a:defRPr>
            </a:pPr>
            <a:r>
              <a:t>→  6. TECHNICAL BENCHMARK &amp; LIVE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02</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THE CAMPUS TRANSIT CRISIS</a:t>
            </a:r>
          </a:p>
        </p:txBody>
      </p:sp>
      <p:sp>
        <p:nvSpPr>
          <p:cNvPr id="5" name="Rectangle 4"/>
          <p:cNvSpPr/>
          <p:nvPr/>
        </p:nvSpPr>
        <p:spPr>
          <a:xfrm>
            <a:off x="8652967" y="182880"/>
            <a:ext cx="3172968"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PROBLEM &amp; VALUE PROPOSITION</a:t>
            </a:r>
          </a:p>
        </p:txBody>
      </p:sp>
      <p:sp>
        <p:nvSpPr>
          <p:cNvPr id="6" name="Rectangle 5"/>
          <p:cNvSpPr/>
          <p:nvPr/>
        </p:nvSpPr>
        <p:spPr>
          <a:xfrm>
            <a:off x="0" y="731520"/>
            <a:ext cx="5852160" cy="6126480"/>
          </a:xfrm>
          <a:prstGeom prst="rect">
            <a:avLst/>
          </a:prstGeom>
          <a:solidFill>
            <a:srgbClr val="FFFFFF"/>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97280"/>
            <a:ext cx="4937760" cy="5394960"/>
          </a:xfrm>
          <a:prstGeom prst="rect">
            <a:avLst/>
          </a:prstGeom>
          <a:noFill/>
        </p:spPr>
        <p:txBody>
          <a:bodyPr wrap="square">
            <a:spAutoFit/>
          </a:bodyPr>
          <a:lstStyle/>
          <a:p>
            <a:pPr>
              <a:spcAft>
                <a:spcPts val="800"/>
              </a:spcAft>
              <a:defRPr sz="1000">
                <a:solidFill>
                  <a:srgbClr val="262626"/>
                </a:solidFill>
                <a:latin typeface="Arial Black"/>
              </a:defRPr>
            </a:pPr>
            <a:r>
              <a:t>EXISTING BOTTLENECK</a:t>
            </a:r>
          </a:p>
          <a:p>
            <a:pPr>
              <a:spcAft>
                <a:spcPts val="1600"/>
              </a:spcAft>
              <a:defRPr sz="2600" b="1">
                <a:solidFill>
                  <a:srgbClr val="0A0A0A"/>
                </a:solidFill>
                <a:latin typeface="Arial Black"/>
              </a:defRPr>
            </a:pPr>
            <a:r>
              <a:t>The Friction of Cash on Campus</a:t>
            </a:r>
          </a:p>
          <a:p>
            <a:pPr>
              <a:spcAft>
                <a:spcPts val="1600"/>
              </a:spcAft>
              <a:defRPr sz="1400">
                <a:solidFill>
                  <a:srgbClr val="3C3C3C"/>
                </a:solidFill>
                <a:latin typeface="Arial"/>
              </a:defRPr>
            </a:pPr>
            <a:r>
              <a:t>Over 30,000 university students rely on campus shuttle buses daily. Physical cash payments cause severe cash-change shortages, delayed boarding queues, fare dispute friction, and untracked driver revenue leakages.</a:t>
            </a:r>
          </a:p>
          <a:p>
            <a:pPr>
              <a:defRPr sz="1400" b="1">
                <a:solidFill>
                  <a:srgbClr val="0A0A0A"/>
                </a:solidFill>
                <a:latin typeface="Arial"/>
              </a:defRPr>
            </a:pPr>
            <a:r>
              <a:t>The Hyperion Solution: A unified digital wallet where students can buy Ride Points (e.g. 1 Ride Point = ₦250). Students authenticate via physical student ID card or dynamic driver QR code for instantaneous, cashless boarding.</a:t>
            </a:r>
          </a:p>
        </p:txBody>
      </p:sp>
      <p:sp>
        <p:nvSpPr>
          <p:cNvPr id="8" name="Rectangle 7"/>
          <p:cNvSpPr/>
          <p:nvPr/>
        </p:nvSpPr>
        <p:spPr>
          <a:xfrm>
            <a:off x="5852160" y="731520"/>
            <a:ext cx="6339535" cy="3063240"/>
          </a:xfrm>
          <a:prstGeom prst="rect">
            <a:avLst/>
          </a:prstGeom>
          <a:solidFill>
            <a:srgbClr val="F2D4C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25135" cy="2514600"/>
          </a:xfrm>
          <a:prstGeom prst="rect">
            <a:avLst/>
          </a:prstGeom>
          <a:noFill/>
        </p:spPr>
        <p:txBody>
          <a:bodyPr wrap="square">
            <a:spAutoFit/>
          </a:bodyPr>
          <a:lstStyle/>
          <a:p>
            <a:pPr>
              <a:defRPr sz="4400" b="1">
                <a:solidFill>
                  <a:srgbClr val="0A0A0A"/>
                </a:solidFill>
                <a:latin typeface="Arial Black"/>
              </a:defRPr>
            </a:pPr>
            <a:r>
              <a:t>12 MIN</a:t>
            </a:r>
          </a:p>
          <a:p>
            <a:pPr>
              <a:spcAft>
                <a:spcPts val="600"/>
              </a:spcAft>
              <a:defRPr sz="1300" b="1">
                <a:solidFill>
                  <a:srgbClr val="0A0A0A"/>
                </a:solidFill>
                <a:latin typeface="Arial Black"/>
              </a:defRPr>
            </a:pPr>
            <a:r>
              <a:t>QUEUE DELAY ELIMINATED</a:t>
            </a:r>
          </a:p>
          <a:p>
            <a:pPr>
              <a:defRPr sz="1300">
                <a:solidFill>
                  <a:srgbClr val="3C3C3C"/>
                </a:solidFill>
                <a:latin typeface="Arial"/>
              </a:defRPr>
            </a:pPr>
            <a:r>
              <a:t>Sub-second tap-and-go boarding accelerates passenger entry by over 80% compared to cash handling.</a:t>
            </a:r>
          </a:p>
        </p:txBody>
      </p:sp>
      <p:sp>
        <p:nvSpPr>
          <p:cNvPr id="10" name="Rectangle 9"/>
          <p:cNvSpPr/>
          <p:nvPr/>
        </p:nvSpPr>
        <p:spPr>
          <a:xfrm>
            <a:off x="5852160" y="3794760"/>
            <a:ext cx="6339535" cy="3063240"/>
          </a:xfrm>
          <a:prstGeom prst="rect">
            <a:avLst/>
          </a:prstGeom>
          <a:solidFill>
            <a:srgbClr val="E5EDD6"/>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069080"/>
            <a:ext cx="5425135" cy="2514600"/>
          </a:xfrm>
          <a:prstGeom prst="rect">
            <a:avLst/>
          </a:prstGeom>
          <a:noFill/>
        </p:spPr>
        <p:txBody>
          <a:bodyPr wrap="square">
            <a:spAutoFit/>
          </a:bodyPr>
          <a:lstStyle/>
          <a:p>
            <a:pPr>
              <a:defRPr sz="4400" b="1">
                <a:solidFill>
                  <a:srgbClr val="0A0A0A"/>
                </a:solidFill>
                <a:latin typeface="Arial Black"/>
              </a:defRPr>
            </a:pPr>
            <a:r>
              <a:t>100%</a:t>
            </a:r>
          </a:p>
          <a:p>
            <a:pPr>
              <a:spcAft>
                <a:spcPts val="600"/>
              </a:spcAft>
              <a:defRPr sz="1300" b="1">
                <a:solidFill>
                  <a:srgbClr val="0A0A0A"/>
                </a:solidFill>
                <a:latin typeface="Arial Black"/>
              </a:defRPr>
            </a:pPr>
            <a:r>
              <a:t>AUDITED REVENUE RECONCILIATION</a:t>
            </a:r>
          </a:p>
          <a:p>
            <a:pPr>
              <a:defRPr sz="1300">
                <a:solidFill>
                  <a:srgbClr val="3C3C3C"/>
                </a:solidFill>
                <a:latin typeface="Arial"/>
              </a:defRPr>
            </a:pPr>
            <a:r>
              <a:t>All transactions sync to university administrative consoles with zero physical cash leakage.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03</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FULL-STACK ARCHITECTURE</a:t>
            </a:r>
          </a:p>
        </p:txBody>
      </p:sp>
      <p:sp>
        <p:nvSpPr>
          <p:cNvPr id="5" name="Rectangle 4"/>
          <p:cNvSpPr/>
          <p:nvPr/>
        </p:nvSpPr>
        <p:spPr>
          <a:xfrm>
            <a:off x="8652967" y="182880"/>
            <a:ext cx="3172968"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HARDWARE-SOFTWARE CO-DESIGN</a:t>
            </a:r>
          </a:p>
        </p:txBody>
      </p:sp>
      <p:sp>
        <p:nvSpPr>
          <p:cNvPr id="6" name="Rectangle 5"/>
          <p:cNvSpPr/>
          <p:nvPr/>
        </p:nvSpPr>
        <p:spPr>
          <a:xfrm>
            <a:off x="0" y="731520"/>
            <a:ext cx="6095847" cy="306324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364327" cy="2514600"/>
          </a:xfrm>
          <a:prstGeom prst="rect">
            <a:avLst/>
          </a:prstGeom>
          <a:noFill/>
        </p:spPr>
        <p:txBody>
          <a:bodyPr wrap="square">
            <a:spAutoFit/>
          </a:bodyPr>
          <a:lstStyle/>
          <a:p>
            <a:pPr>
              <a:spcAft>
                <a:spcPts val="600"/>
              </a:spcAft>
              <a:defRPr sz="1000">
                <a:solidFill>
                  <a:srgbClr val="262626"/>
                </a:solidFill>
                <a:latin typeface="Arial Black"/>
              </a:defRPr>
            </a:pPr>
            <a:r>
              <a:t>LAYER 01  |  CLIENT APP</a:t>
            </a:r>
          </a:p>
          <a:p>
            <a:pPr>
              <a:spcAft>
                <a:spcPts val="800"/>
              </a:spcAft>
              <a:defRPr sz="1800" b="1">
                <a:solidFill>
                  <a:srgbClr val="0A0A0A"/>
                </a:solidFill>
                <a:latin typeface="Arial Black"/>
              </a:defRPr>
            </a:pPr>
            <a:r>
              <a:t>Student Mobile App</a:t>
            </a:r>
          </a:p>
          <a:p>
            <a:pPr>
              <a:spcAft>
                <a:spcPts val="1000"/>
              </a:spcAft>
              <a:defRPr sz="1200">
                <a:solidFill>
                  <a:srgbClr val="3C3C3C"/>
                </a:solidFill>
                <a:latin typeface="Arial"/>
              </a:defRPr>
            </a:pPr>
            <a:r>
              <a:t>The daily passenger app for students to quickly generate QR boarding passes, view transaction logs, view wallet balances, and top up funds.</a:t>
            </a:r>
          </a:p>
          <a:p>
            <a:pPr>
              <a:defRPr sz="950" b="1">
                <a:solidFill>
                  <a:srgbClr val="0A0A0A"/>
                </a:solidFill>
                <a:latin typeface="Courier New"/>
              </a:defRPr>
            </a:pPr>
            <a:r>
              <a:t>TECH: REACT NATIVE · EXPO · TAILWIND</a:t>
            </a:r>
          </a:p>
        </p:txBody>
      </p:sp>
      <p:sp>
        <p:nvSpPr>
          <p:cNvPr id="8" name="Rectangle 7"/>
          <p:cNvSpPr/>
          <p:nvPr/>
        </p:nvSpPr>
        <p:spPr>
          <a:xfrm>
            <a:off x="6095390" y="731520"/>
            <a:ext cx="6095847" cy="3063240"/>
          </a:xfrm>
          <a:prstGeom prst="rect">
            <a:avLst/>
          </a:prstGeom>
          <a:solidFill>
            <a:srgbClr val="E5EDD6"/>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150" y="1005840"/>
            <a:ext cx="5364327" cy="2514600"/>
          </a:xfrm>
          <a:prstGeom prst="rect">
            <a:avLst/>
          </a:prstGeom>
          <a:noFill/>
        </p:spPr>
        <p:txBody>
          <a:bodyPr wrap="square">
            <a:spAutoFit/>
          </a:bodyPr>
          <a:lstStyle/>
          <a:p>
            <a:pPr>
              <a:spcAft>
                <a:spcPts val="600"/>
              </a:spcAft>
              <a:defRPr sz="1000">
                <a:solidFill>
                  <a:srgbClr val="262626"/>
                </a:solidFill>
                <a:latin typeface="Arial Black"/>
              </a:defRPr>
            </a:pPr>
            <a:r>
              <a:t>LAYER 02  |  EDGE IoT</a:t>
            </a:r>
          </a:p>
          <a:p>
            <a:pPr>
              <a:spcAft>
                <a:spcPts val="800"/>
              </a:spcAft>
              <a:defRPr sz="1800" b="1">
                <a:solidFill>
                  <a:srgbClr val="0A0A0A"/>
                </a:solidFill>
                <a:latin typeface="Arial Black"/>
              </a:defRPr>
            </a:pPr>
            <a:r>
              <a:t>Smart Bus Scanner Pod</a:t>
            </a:r>
          </a:p>
          <a:p>
            <a:pPr>
              <a:spcAft>
                <a:spcPts val="1000"/>
              </a:spcAft>
              <a:defRPr sz="1200">
                <a:solidFill>
                  <a:srgbClr val="3C3C3C"/>
                </a:solidFill>
                <a:latin typeface="Arial"/>
              </a:defRPr>
            </a:pPr>
            <a:r>
              <a:t>The physical scanner mounted inside the bus. It instantly reads student ID cards or phone taps, shows instant approval on its screen, and signals boarding access.</a:t>
            </a:r>
          </a:p>
          <a:p>
            <a:pPr>
              <a:defRPr sz="950" b="1">
                <a:solidFill>
                  <a:srgbClr val="0A0A0A"/>
                </a:solidFill>
                <a:latin typeface="Courier New"/>
              </a:defRPr>
            </a:pPr>
            <a:r>
              <a:t>TECH: C++ · ESP-IDF · FREERTOS · PN532</a:t>
            </a:r>
          </a:p>
        </p:txBody>
      </p:sp>
      <p:sp>
        <p:nvSpPr>
          <p:cNvPr id="10" name="Rectangle 9"/>
          <p:cNvSpPr/>
          <p:nvPr/>
        </p:nvSpPr>
        <p:spPr>
          <a:xfrm>
            <a:off x="0" y="3794760"/>
            <a:ext cx="6095847" cy="3063240"/>
          </a:xfrm>
          <a:prstGeom prst="rect">
            <a:avLst/>
          </a:prstGeom>
          <a:solidFill>
            <a:srgbClr val="F2D4C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069080"/>
            <a:ext cx="5364327" cy="2514600"/>
          </a:xfrm>
          <a:prstGeom prst="rect">
            <a:avLst/>
          </a:prstGeom>
          <a:noFill/>
        </p:spPr>
        <p:txBody>
          <a:bodyPr wrap="square">
            <a:spAutoFit/>
          </a:bodyPr>
          <a:lstStyle/>
          <a:p>
            <a:pPr>
              <a:spcAft>
                <a:spcPts val="600"/>
              </a:spcAft>
              <a:defRPr sz="1000">
                <a:solidFill>
                  <a:srgbClr val="262626"/>
                </a:solidFill>
                <a:latin typeface="Arial Black"/>
              </a:defRPr>
            </a:pPr>
            <a:r>
              <a:t>LAYER 03  |  BACKEND API</a:t>
            </a:r>
          </a:p>
          <a:p>
            <a:pPr>
              <a:spcAft>
                <a:spcPts val="800"/>
              </a:spcAft>
              <a:defRPr sz="1800" b="1">
                <a:solidFill>
                  <a:srgbClr val="0A0A0A"/>
                </a:solidFill>
                <a:latin typeface="Arial Black"/>
              </a:defRPr>
            </a:pPr>
            <a:r>
              <a:t>Central Cloud Server</a:t>
            </a:r>
          </a:p>
          <a:p>
            <a:pPr>
              <a:spcAft>
                <a:spcPts val="1000"/>
              </a:spcAft>
              <a:defRPr sz="1200">
                <a:solidFill>
                  <a:srgbClr val="3C3C3C"/>
                </a:solidFill>
                <a:latin typeface="Arial"/>
              </a:defRPr>
            </a:pPr>
            <a:r>
              <a:t>The secure brain connecting everything. It instantly verifies rides, processes fare deductions, and syncs data between mobile apps and bus scanners in milliseconds.</a:t>
            </a:r>
          </a:p>
          <a:p>
            <a:pPr>
              <a:defRPr sz="950" b="1">
                <a:solidFill>
                  <a:srgbClr val="0A0A0A"/>
                </a:solidFill>
                <a:latin typeface="Courier New"/>
              </a:defRPr>
            </a:pPr>
            <a:r>
              <a:t>TECH: NODE.JS · TYPESCRIPT · MONGOOSE</a:t>
            </a:r>
          </a:p>
        </p:txBody>
      </p:sp>
      <p:sp>
        <p:nvSpPr>
          <p:cNvPr id="12" name="Rectangle 11"/>
          <p:cNvSpPr/>
          <p:nvPr/>
        </p:nvSpPr>
        <p:spPr>
          <a:xfrm>
            <a:off x="6095390" y="3794760"/>
            <a:ext cx="6095847" cy="3063240"/>
          </a:xfrm>
          <a:prstGeom prst="rect">
            <a:avLst/>
          </a:prstGeom>
          <a:solidFill>
            <a:srgbClr val="F5F5F5"/>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150" y="4069080"/>
            <a:ext cx="5364327" cy="2514600"/>
          </a:xfrm>
          <a:prstGeom prst="rect">
            <a:avLst/>
          </a:prstGeom>
          <a:noFill/>
        </p:spPr>
        <p:txBody>
          <a:bodyPr wrap="square">
            <a:spAutoFit/>
          </a:bodyPr>
          <a:lstStyle/>
          <a:p>
            <a:pPr>
              <a:spcAft>
                <a:spcPts val="600"/>
              </a:spcAft>
              <a:defRPr sz="1000">
                <a:solidFill>
                  <a:srgbClr val="262626"/>
                </a:solidFill>
                <a:latin typeface="Arial Black"/>
              </a:defRPr>
            </a:pPr>
            <a:r>
              <a:t>LAYER 04  |  FINTECH &amp; FLEET</a:t>
            </a:r>
          </a:p>
          <a:p>
            <a:pPr>
              <a:spcAft>
                <a:spcPts val="800"/>
              </a:spcAft>
              <a:defRPr sz="1800" b="1">
                <a:solidFill>
                  <a:srgbClr val="0A0A0A"/>
                </a:solidFill>
                <a:latin typeface="Arial Black"/>
              </a:defRPr>
            </a:pPr>
            <a:r>
              <a:t>Payments &amp; Admin Hub</a:t>
            </a:r>
          </a:p>
          <a:p>
            <a:pPr>
              <a:spcAft>
                <a:spcPts val="1000"/>
              </a:spcAft>
              <a:defRPr sz="1200">
                <a:solidFill>
                  <a:srgbClr val="3C3C3C"/>
                </a:solidFill>
                <a:latin typeface="Arial"/>
              </a:defRPr>
            </a:pPr>
            <a:r>
              <a:t>Provides each student with their own dedicated bank account for easy bank transfers, while giving managers real-time bus tracking and revenue insights.</a:t>
            </a:r>
          </a:p>
          <a:p>
            <a:pPr>
              <a:defRPr sz="950" b="1">
                <a:solidFill>
                  <a:srgbClr val="0A0A0A"/>
                </a:solidFill>
                <a:latin typeface="Courier New"/>
              </a:defRPr>
            </a:pPr>
            <a:r>
              <a:t>TECH: PAYSTACK WEBHOOKS · MONGODB ATLAS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04</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BUS SCANNER POD</a:t>
            </a:r>
          </a:p>
        </p:txBody>
      </p:sp>
      <p:sp>
        <p:nvSpPr>
          <p:cNvPr id="5" name="Rectangle 4"/>
          <p:cNvSpPr/>
          <p:nvPr/>
        </p:nvSpPr>
        <p:spPr>
          <a:xfrm>
            <a:off x="9558223" y="182880"/>
            <a:ext cx="2267712"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PHYSICAL PROTOTYPE</a:t>
            </a:r>
          </a:p>
        </p:txBody>
      </p:sp>
      <p:sp>
        <p:nvSpPr>
          <p:cNvPr id="6" name="Rectangle 5"/>
          <p:cNvSpPr/>
          <p:nvPr/>
        </p:nvSpPr>
        <p:spPr>
          <a:xfrm>
            <a:off x="0" y="731520"/>
            <a:ext cx="5486400" cy="6126480"/>
          </a:xfrm>
          <a:prstGeom prst="rect">
            <a:avLst/>
          </a:prstGeom>
          <a:solidFill>
            <a:srgbClr val="0A0A0A"/>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jpg"/>
          <p:cNvPicPr>
            <a:picLocks noChangeAspect="1"/>
          </p:cNvPicPr>
          <p:nvPr/>
        </p:nvPicPr>
        <p:blipFill>
          <a:blip r:embed="rId2"/>
          <a:stretch>
            <a:fillRect/>
          </a:stretch>
        </p:blipFill>
        <p:spPr>
          <a:xfrm>
            <a:off x="365760" y="1097280"/>
            <a:ext cx="4754880" cy="3168682"/>
          </a:xfrm>
          <a:prstGeom prst="rect">
            <a:avLst/>
          </a:prstGeom>
        </p:spPr>
      </p:pic>
      <p:sp>
        <p:nvSpPr>
          <p:cNvPr id="8" name="Rectangle 7"/>
          <p:cNvSpPr/>
          <p:nvPr/>
        </p:nvSpPr>
        <p:spPr>
          <a:xfrm>
            <a:off x="548640" y="5852160"/>
            <a:ext cx="3840480" cy="411480"/>
          </a:xfrm>
          <a:prstGeom prst="rect">
            <a:avLst/>
          </a:prstGeom>
          <a:solidFill>
            <a:srgbClr val="0A0A0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Black"/>
              </a:defRPr>
            </a:pPr>
            <a:r>
              <a:t>PROTOTYPE: ONBOARD SCANNER UNIT</a:t>
            </a:r>
          </a:p>
        </p:txBody>
      </p:sp>
      <p:sp>
        <p:nvSpPr>
          <p:cNvPr id="9" name="Rectangle 8"/>
          <p:cNvSpPr/>
          <p:nvPr/>
        </p:nvSpPr>
        <p:spPr>
          <a:xfrm>
            <a:off x="5486400" y="731520"/>
            <a:ext cx="6705295" cy="6126480"/>
          </a:xfrm>
          <a:prstGeom prst="rect">
            <a:avLst/>
          </a:prstGeom>
          <a:solidFill>
            <a:srgbClr val="FFFFFF"/>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1097280"/>
            <a:ext cx="5790895" cy="5394960"/>
          </a:xfrm>
          <a:prstGeom prst="rect">
            <a:avLst/>
          </a:prstGeom>
          <a:noFill/>
        </p:spPr>
        <p:txBody>
          <a:bodyPr wrap="square">
            <a:spAutoFit/>
          </a:bodyPr>
          <a:lstStyle/>
          <a:p>
            <a:pPr>
              <a:spcAft>
                <a:spcPts val="400"/>
              </a:spcAft>
              <a:defRPr sz="1000">
                <a:solidFill>
                  <a:srgbClr val="262626"/>
                </a:solidFill>
                <a:latin typeface="Arial Black"/>
              </a:defRPr>
            </a:pPr>
            <a:r>
              <a:t>ONBOARD EMBEDDED SYSTEM</a:t>
            </a:r>
          </a:p>
          <a:p>
            <a:pPr>
              <a:spcAft>
                <a:spcPts val="1000"/>
              </a:spcAft>
              <a:defRPr sz="2400" b="1">
                <a:solidFill>
                  <a:srgbClr val="0A0A0A"/>
                </a:solidFill>
                <a:latin typeface="Arial Black"/>
              </a:defRPr>
            </a:pPr>
            <a:r>
              <a:t>Passenger Entry Validator</a:t>
            </a:r>
          </a:p>
          <a:p>
            <a:pPr>
              <a:defRPr sz="1300">
                <a:solidFill>
                  <a:srgbClr val="3C3C3C"/>
                </a:solidFill>
                <a:latin typeface="Arial"/>
              </a:defRPr>
            </a:pPr>
            <a:r>
              <a:t>Mounted right at the bus door so drivers never have to handle cash or pass around phones. Students simply tap their smart student ID card or scan with their phone for instant entry.</a:t>
            </a:r>
          </a:p>
        </p:txBody>
      </p:sp>
      <p:sp>
        <p:nvSpPr>
          <p:cNvPr id="11" name="Rectangle 10"/>
          <p:cNvSpPr/>
          <p:nvPr/>
        </p:nvSpPr>
        <p:spPr>
          <a:xfrm>
            <a:off x="5943600" y="3200400"/>
            <a:ext cx="5790895" cy="621792"/>
          </a:xfrm>
          <a:prstGeom prst="rect">
            <a:avLst/>
          </a:prstGeom>
          <a:solidFill>
            <a:srgbClr val="E5EDD6"/>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3291840"/>
            <a:ext cx="5608015" cy="457200"/>
          </a:xfrm>
          <a:prstGeom prst="rect">
            <a:avLst/>
          </a:prstGeom>
          <a:noFill/>
        </p:spPr>
        <p:txBody>
          <a:bodyPr wrap="square">
            <a:spAutoFit/>
          </a:bodyPr>
          <a:lstStyle/>
          <a:p>
            <a:pPr>
              <a:defRPr sz="1200" b="1">
                <a:solidFill>
                  <a:srgbClr val="0A0A0A"/>
                </a:solidFill>
                <a:latin typeface="Arial"/>
              </a:defRPr>
            </a:pPr>
            <a:r>
              <a:t>Main Controller: </a:t>
            </a:r>
            <a:r>
              <a:rPr sz="1100" b="0">
                <a:solidFill>
                  <a:srgbClr val="262626"/>
                </a:solidFill>
                <a:latin typeface="Courier New"/>
              </a:rPr>
              <a:t>ESP32 Chip (Handles Wi-Fi, Bluetooth &amp; Logic)</a:t>
            </a:r>
          </a:p>
        </p:txBody>
      </p:sp>
      <p:sp>
        <p:nvSpPr>
          <p:cNvPr id="13" name="Rectangle 12"/>
          <p:cNvSpPr/>
          <p:nvPr/>
        </p:nvSpPr>
        <p:spPr>
          <a:xfrm>
            <a:off x="5943600" y="3950208"/>
            <a:ext cx="5790895" cy="621792"/>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4041647"/>
            <a:ext cx="5608015" cy="457200"/>
          </a:xfrm>
          <a:prstGeom prst="rect">
            <a:avLst/>
          </a:prstGeom>
          <a:noFill/>
        </p:spPr>
        <p:txBody>
          <a:bodyPr wrap="square">
            <a:spAutoFit/>
          </a:bodyPr>
          <a:lstStyle/>
          <a:p>
            <a:pPr>
              <a:defRPr sz="1200" b="1">
                <a:solidFill>
                  <a:srgbClr val="0A0A0A"/>
                </a:solidFill>
                <a:latin typeface="Arial"/>
              </a:defRPr>
            </a:pPr>
            <a:r>
              <a:t>Card Reader: </a:t>
            </a:r>
            <a:r>
              <a:rPr sz="1100" b="0">
                <a:solidFill>
                  <a:srgbClr val="262626"/>
                </a:solidFill>
                <a:latin typeface="Courier New"/>
              </a:rPr>
              <a:t>High-Speed RFID &amp; Phone Tap Sensor</a:t>
            </a:r>
          </a:p>
        </p:txBody>
      </p:sp>
      <p:sp>
        <p:nvSpPr>
          <p:cNvPr id="15" name="Rectangle 14"/>
          <p:cNvSpPr/>
          <p:nvPr/>
        </p:nvSpPr>
        <p:spPr>
          <a:xfrm>
            <a:off x="5943600" y="4700016"/>
            <a:ext cx="5790895" cy="621792"/>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4791456"/>
            <a:ext cx="5608015" cy="457200"/>
          </a:xfrm>
          <a:prstGeom prst="rect">
            <a:avLst/>
          </a:prstGeom>
          <a:noFill/>
        </p:spPr>
        <p:txBody>
          <a:bodyPr wrap="square">
            <a:spAutoFit/>
          </a:bodyPr>
          <a:lstStyle/>
          <a:p>
            <a:pPr>
              <a:defRPr sz="1200" b="1">
                <a:solidFill>
                  <a:srgbClr val="0A0A0A"/>
                </a:solidFill>
                <a:latin typeface="Arial"/>
              </a:defRPr>
            </a:pPr>
            <a:r>
              <a:t>Display Screen: </a:t>
            </a:r>
            <a:r>
              <a:rPr sz="1100" b="0">
                <a:solidFill>
                  <a:srgbClr val="262626"/>
                </a:solidFill>
                <a:latin typeface="Courier New"/>
              </a:rPr>
              <a:t>Mini OLED Screen (Shows Fare &amp; Balance)</a:t>
            </a:r>
          </a:p>
        </p:txBody>
      </p:sp>
      <p:sp>
        <p:nvSpPr>
          <p:cNvPr id="17" name="Rectangle 16"/>
          <p:cNvSpPr/>
          <p:nvPr/>
        </p:nvSpPr>
        <p:spPr>
          <a:xfrm>
            <a:off x="5943600" y="5449824"/>
            <a:ext cx="5790895" cy="621792"/>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5541264"/>
            <a:ext cx="5608015" cy="457200"/>
          </a:xfrm>
          <a:prstGeom prst="rect">
            <a:avLst/>
          </a:prstGeom>
          <a:noFill/>
        </p:spPr>
        <p:txBody>
          <a:bodyPr wrap="square">
            <a:spAutoFit/>
          </a:bodyPr>
          <a:lstStyle/>
          <a:p>
            <a:pPr>
              <a:defRPr sz="1200" b="1">
                <a:solidFill>
                  <a:srgbClr val="0A0A0A"/>
                </a:solidFill>
                <a:latin typeface="Arial"/>
              </a:defRPr>
            </a:pPr>
            <a:r>
              <a:t>Device Security: </a:t>
            </a:r>
            <a:r>
              <a:rPr sz="1100" b="0">
                <a:solidFill>
                  <a:srgbClr val="262626"/>
                </a:solidFill>
                <a:latin typeface="Courier New"/>
              </a:rPr>
              <a:t>Encrypted Access Key (Prevents Tampering)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05</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OFFLINE RELIABILITY</a:t>
            </a:r>
          </a:p>
        </p:txBody>
      </p:sp>
      <p:sp>
        <p:nvSpPr>
          <p:cNvPr id="5" name="Rectangle 4"/>
          <p:cNvSpPr/>
          <p:nvPr/>
        </p:nvSpPr>
        <p:spPr>
          <a:xfrm>
            <a:off x="9155887" y="182880"/>
            <a:ext cx="2670048"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WORKS WITHOUT INTERNET</a:t>
            </a:r>
          </a:p>
        </p:txBody>
      </p:sp>
      <p:sp>
        <p:nvSpPr>
          <p:cNvPr id="6" name="Rectangle 5"/>
          <p:cNvSpPr/>
          <p:nvPr/>
        </p:nvSpPr>
        <p:spPr>
          <a:xfrm>
            <a:off x="0" y="731520"/>
            <a:ext cx="3047923" cy="612648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005840"/>
            <a:ext cx="2590723" cy="5577840"/>
          </a:xfrm>
          <a:prstGeom prst="rect">
            <a:avLst/>
          </a:prstGeom>
          <a:noFill/>
        </p:spPr>
        <p:txBody>
          <a:bodyPr wrap="square">
            <a:spAutoFit/>
          </a:bodyPr>
          <a:lstStyle/>
          <a:p>
            <a:pPr>
              <a:spcAft>
                <a:spcPts val="800"/>
              </a:spcAft>
              <a:defRPr sz="4400" b="1">
                <a:solidFill>
                  <a:srgbClr val="B4B4B4"/>
                </a:solidFill>
                <a:latin typeface="Arial Black"/>
              </a:defRPr>
            </a:pPr>
            <a:r>
              <a:t>01</a:t>
            </a:r>
          </a:p>
          <a:p>
            <a:pPr>
              <a:spcAft>
                <a:spcPts val="1200"/>
              </a:spcAft>
              <a:defRPr sz="1500" b="1">
                <a:solidFill>
                  <a:srgbClr val="0A0A0A"/>
                </a:solidFill>
                <a:latin typeface="Arial Black"/>
              </a:defRPr>
            </a:pPr>
            <a:r>
              <a:t>Network Outage Detection</a:t>
            </a:r>
          </a:p>
          <a:p>
            <a:pPr>
              <a:spcAft>
                <a:spcPts val="2000"/>
              </a:spcAft>
              <a:defRPr sz="1200">
                <a:solidFill>
                  <a:srgbClr val="3C3C3C"/>
                </a:solidFill>
                <a:latin typeface="Arial"/>
              </a:defRPr>
            </a:pPr>
            <a:r>
              <a:t>If the bus drives into an area with poor network coverage or dead zones, the scanner automatically switches to offline mode without interrupting boarding.</a:t>
            </a:r>
          </a:p>
          <a:p>
            <a:pPr>
              <a:defRPr sz="950" b="1">
                <a:solidFill>
                  <a:srgbClr val="262626"/>
                </a:solidFill>
                <a:latin typeface="Arial Black"/>
              </a:defRPr>
            </a:pPr>
            <a:r>
              <a:t>AUTOMATIC SWITCH</a:t>
            </a:r>
          </a:p>
        </p:txBody>
      </p:sp>
      <p:sp>
        <p:nvSpPr>
          <p:cNvPr id="8" name="Rectangle 7"/>
          <p:cNvSpPr/>
          <p:nvPr/>
        </p:nvSpPr>
        <p:spPr>
          <a:xfrm>
            <a:off x="3047923" y="731520"/>
            <a:ext cx="3047923" cy="6126480"/>
          </a:xfrm>
          <a:prstGeom prst="rect">
            <a:avLst/>
          </a:prstGeom>
          <a:solidFill>
            <a:srgbClr val="F5F5F5"/>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76523" y="1005840"/>
            <a:ext cx="2590723" cy="5577840"/>
          </a:xfrm>
          <a:prstGeom prst="rect">
            <a:avLst/>
          </a:prstGeom>
          <a:noFill/>
        </p:spPr>
        <p:txBody>
          <a:bodyPr wrap="square">
            <a:spAutoFit/>
          </a:bodyPr>
          <a:lstStyle/>
          <a:p>
            <a:pPr>
              <a:spcAft>
                <a:spcPts val="800"/>
              </a:spcAft>
              <a:defRPr sz="4400" b="1">
                <a:solidFill>
                  <a:srgbClr val="B4B4B4"/>
                </a:solidFill>
                <a:latin typeface="Arial Black"/>
              </a:defRPr>
            </a:pPr>
            <a:r>
              <a:t>02</a:t>
            </a:r>
          </a:p>
          <a:p>
            <a:pPr>
              <a:spcAft>
                <a:spcPts val="1200"/>
              </a:spcAft>
              <a:defRPr sz="1500" b="1">
                <a:solidFill>
                  <a:srgbClr val="0A0A0A"/>
                </a:solidFill>
                <a:latin typeface="Arial Black"/>
              </a:defRPr>
            </a:pPr>
            <a:r>
              <a:t>Internal Memory Verification</a:t>
            </a:r>
          </a:p>
          <a:p>
            <a:pPr>
              <a:spcAft>
                <a:spcPts val="2000"/>
              </a:spcAft>
              <a:defRPr sz="1200">
                <a:solidFill>
                  <a:srgbClr val="3C3C3C"/>
                </a:solidFill>
                <a:latin typeface="Arial"/>
              </a:defRPr>
            </a:pPr>
            <a:r>
              <a:t>The scanner stores an encrypted list of valid student passes directly on its internal memory, verifying card taps in less than 50 milliseconds.</a:t>
            </a:r>
          </a:p>
          <a:p>
            <a:pPr>
              <a:defRPr sz="950" b="1">
                <a:solidFill>
                  <a:srgbClr val="262626"/>
                </a:solidFill>
                <a:latin typeface="Arial Black"/>
              </a:defRPr>
            </a:pPr>
            <a:r>
              <a:t>INSTANT VERIFICATION</a:t>
            </a:r>
          </a:p>
        </p:txBody>
      </p:sp>
      <p:sp>
        <p:nvSpPr>
          <p:cNvPr id="10" name="Rectangle 9"/>
          <p:cNvSpPr/>
          <p:nvPr/>
        </p:nvSpPr>
        <p:spPr>
          <a:xfrm>
            <a:off x="6095847" y="731520"/>
            <a:ext cx="3047923" cy="6126480"/>
          </a:xfrm>
          <a:prstGeom prst="rect">
            <a:avLst/>
          </a:prstGeom>
          <a:solidFill>
            <a:srgbClr val="F2D4C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005840"/>
            <a:ext cx="2590723" cy="5577840"/>
          </a:xfrm>
          <a:prstGeom prst="rect">
            <a:avLst/>
          </a:prstGeom>
          <a:noFill/>
        </p:spPr>
        <p:txBody>
          <a:bodyPr wrap="square">
            <a:spAutoFit/>
          </a:bodyPr>
          <a:lstStyle/>
          <a:p>
            <a:pPr>
              <a:spcAft>
                <a:spcPts val="800"/>
              </a:spcAft>
              <a:defRPr sz="4400" b="1">
                <a:solidFill>
                  <a:srgbClr val="B4B4B4"/>
                </a:solidFill>
                <a:latin typeface="Arial Black"/>
              </a:defRPr>
            </a:pPr>
            <a:r>
              <a:t>03</a:t>
            </a:r>
          </a:p>
          <a:p>
            <a:pPr>
              <a:spcAft>
                <a:spcPts val="1200"/>
              </a:spcAft>
              <a:defRPr sz="1500" b="1">
                <a:solidFill>
                  <a:srgbClr val="0A0A0A"/>
                </a:solidFill>
                <a:latin typeface="Arial Black"/>
              </a:defRPr>
            </a:pPr>
            <a:r>
              <a:t>Accurate Clock Timestamping</a:t>
            </a:r>
          </a:p>
          <a:p>
            <a:pPr>
              <a:spcAft>
                <a:spcPts val="2000"/>
              </a:spcAft>
              <a:defRPr sz="1200">
                <a:solidFill>
                  <a:srgbClr val="3C3C3C"/>
                </a:solidFill>
                <a:latin typeface="Arial"/>
              </a:defRPr>
            </a:pPr>
            <a:r>
              <a:t>A battery-powered backup clock records the exact time and sequence of every ride to prevent duplicate taps or record tampering.</a:t>
            </a:r>
          </a:p>
          <a:p>
            <a:pPr>
              <a:defRPr sz="950" b="1">
                <a:solidFill>
                  <a:srgbClr val="262626"/>
                </a:solidFill>
                <a:latin typeface="Arial Black"/>
              </a:defRPr>
            </a:pPr>
            <a:r>
              <a:t>SECURE LOGGING</a:t>
            </a:r>
          </a:p>
        </p:txBody>
      </p:sp>
      <p:sp>
        <p:nvSpPr>
          <p:cNvPr id="12" name="Rectangle 11"/>
          <p:cNvSpPr/>
          <p:nvPr/>
        </p:nvSpPr>
        <p:spPr>
          <a:xfrm>
            <a:off x="9143771" y="731520"/>
            <a:ext cx="3047923" cy="6126480"/>
          </a:xfrm>
          <a:prstGeom prst="rect">
            <a:avLst/>
          </a:prstGeom>
          <a:solidFill>
            <a:srgbClr val="E5EDD6"/>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72371" y="1005840"/>
            <a:ext cx="2590723" cy="5577840"/>
          </a:xfrm>
          <a:prstGeom prst="rect">
            <a:avLst/>
          </a:prstGeom>
          <a:noFill/>
        </p:spPr>
        <p:txBody>
          <a:bodyPr wrap="square">
            <a:spAutoFit/>
          </a:bodyPr>
          <a:lstStyle/>
          <a:p>
            <a:pPr>
              <a:spcAft>
                <a:spcPts val="800"/>
              </a:spcAft>
              <a:defRPr sz="4400" b="1">
                <a:solidFill>
                  <a:srgbClr val="B4B4B4"/>
                </a:solidFill>
                <a:latin typeface="Arial Black"/>
              </a:defRPr>
            </a:pPr>
            <a:r>
              <a:t>04</a:t>
            </a:r>
          </a:p>
          <a:p>
            <a:pPr>
              <a:spcAft>
                <a:spcPts val="1200"/>
              </a:spcAft>
              <a:defRPr sz="1500" b="1">
                <a:solidFill>
                  <a:srgbClr val="0A0A0A"/>
                </a:solidFill>
                <a:latin typeface="Arial Black"/>
              </a:defRPr>
            </a:pPr>
            <a:r>
              <a:t>Automatic Cloud Sync</a:t>
            </a:r>
          </a:p>
          <a:p>
            <a:pPr>
              <a:spcAft>
                <a:spcPts val="2000"/>
              </a:spcAft>
              <a:defRPr sz="1200">
                <a:solidFill>
                  <a:srgbClr val="3C3C3C"/>
                </a:solidFill>
                <a:latin typeface="Arial"/>
              </a:defRPr>
            </a:pPr>
            <a:r>
              <a:t>As soon as internet connection is restored, the scanner automatically uploads all saved offline rides to the server to update balances seamlessly.</a:t>
            </a:r>
          </a:p>
          <a:p>
            <a:pPr>
              <a:defRPr sz="950" b="1">
                <a:solidFill>
                  <a:srgbClr val="262626"/>
                </a:solidFill>
                <a:latin typeface="Arial Black"/>
              </a:defRPr>
            </a:pPr>
            <a:r>
              <a:t>BACKGROUND SYNC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06</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PAYMENTS &amp; TOP-UPS</a:t>
            </a:r>
          </a:p>
        </p:txBody>
      </p:sp>
      <p:sp>
        <p:nvSpPr>
          <p:cNvPr id="5" name="Rectangle 4"/>
          <p:cNvSpPr/>
          <p:nvPr/>
        </p:nvSpPr>
        <p:spPr>
          <a:xfrm>
            <a:off x="9155887" y="182880"/>
            <a:ext cx="2670048"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SEAMLESS WALLET SYSTEM</a:t>
            </a:r>
          </a:p>
        </p:txBody>
      </p:sp>
      <p:sp>
        <p:nvSpPr>
          <p:cNvPr id="6" name="Rectangle 5"/>
          <p:cNvSpPr/>
          <p:nvPr/>
        </p:nvSpPr>
        <p:spPr>
          <a:xfrm>
            <a:off x="0" y="731520"/>
            <a:ext cx="5303520" cy="6126480"/>
          </a:xfrm>
          <a:prstGeom prst="rect">
            <a:avLst/>
          </a:prstGeom>
          <a:solidFill>
            <a:srgbClr val="FFFFFF"/>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3040" y="1463040"/>
            <a:ext cx="2377440" cy="2377440"/>
          </a:xfrm>
          <a:prstGeom prst="rect">
            <a:avLst/>
          </a:prstGeom>
          <a:solidFill>
            <a:srgbClr val="E5EDD6"/>
          </a:solidFill>
          <a:ln w="381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200" b="1">
                <a:solidFill>
                  <a:srgbClr val="0A0A0A"/>
                </a:solidFill>
                <a:latin typeface="Arial Black"/>
              </a:defRPr>
            </a:pPr>
            <a:r>
              <a:t>₦250</a:t>
            </a:r>
          </a:p>
          <a:p>
            <a:pPr algn="ctr">
              <a:defRPr sz="1100" b="1">
                <a:solidFill>
                  <a:srgbClr val="262626"/>
                </a:solidFill>
                <a:latin typeface="Arial Black"/>
              </a:defRPr>
            </a:pPr>
            <a:r>
              <a:t>= 1 RIDE POINT</a:t>
            </a:r>
          </a:p>
        </p:txBody>
      </p:sp>
      <p:sp>
        <p:nvSpPr>
          <p:cNvPr id="8" name="TextBox 7"/>
          <p:cNvSpPr txBox="1"/>
          <p:nvPr/>
        </p:nvSpPr>
        <p:spPr>
          <a:xfrm>
            <a:off x="457200" y="4114800"/>
            <a:ext cx="4389120" cy="2011680"/>
          </a:xfrm>
          <a:prstGeom prst="rect">
            <a:avLst/>
          </a:prstGeom>
          <a:noFill/>
        </p:spPr>
        <p:txBody>
          <a:bodyPr wrap="square">
            <a:spAutoFit/>
          </a:bodyPr>
          <a:lstStyle/>
          <a:p>
            <a:pPr algn="ctr">
              <a:spcAft>
                <a:spcPts val="800"/>
              </a:spcAft>
              <a:defRPr sz="2000" b="1">
                <a:solidFill>
                  <a:srgbClr val="0A0A0A"/>
                </a:solidFill>
                <a:latin typeface="Arial Black"/>
              </a:defRPr>
            </a:pPr>
            <a:r>
              <a:t>Dedicated Bank Account</a:t>
            </a:r>
          </a:p>
          <a:p>
            <a:pPr algn="ctr">
              <a:defRPr sz="1300">
                <a:solidFill>
                  <a:srgbClr val="3C3C3C"/>
                </a:solidFill>
                <a:latin typeface="Arial"/>
              </a:defRPr>
            </a:pPr>
            <a:r>
              <a:t>Every student gets a unique, permanent virtual bank account number linked directly to their student profile.</a:t>
            </a:r>
          </a:p>
        </p:txBody>
      </p:sp>
      <p:sp>
        <p:nvSpPr>
          <p:cNvPr id="9" name="Rectangle 8"/>
          <p:cNvSpPr/>
          <p:nvPr/>
        </p:nvSpPr>
        <p:spPr>
          <a:xfrm>
            <a:off x="5303520" y="731520"/>
            <a:ext cx="6888175" cy="6126480"/>
          </a:xfrm>
          <a:prstGeom prst="rect">
            <a:avLst/>
          </a:prstGeom>
          <a:solidFill>
            <a:srgbClr val="FFFFFF"/>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0" y="731520"/>
            <a:ext cx="6888175" cy="2042160"/>
          </a:xfrm>
          <a:prstGeom prst="rect">
            <a:avLst/>
          </a:prstGeom>
          <a:solidFill>
            <a:srgbClr val="FFFFF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0" y="1051560"/>
            <a:ext cx="5973775" cy="1280160"/>
          </a:xfrm>
          <a:prstGeom prst="rect">
            <a:avLst/>
          </a:prstGeom>
          <a:noFill/>
        </p:spPr>
        <p:txBody>
          <a:bodyPr wrap="square">
            <a:spAutoFit/>
          </a:bodyPr>
          <a:lstStyle/>
          <a:p>
            <a:pPr>
              <a:spcAft>
                <a:spcPts val="600"/>
              </a:spcAft>
              <a:defRPr sz="1400" b="1">
                <a:solidFill>
                  <a:srgbClr val="0A0A0A"/>
                </a:solidFill>
                <a:latin typeface="Arial Black"/>
              </a:defRPr>
            </a:pPr>
            <a:r>
              <a:t>SIMPLE BANK TRANSFER TOP-UP</a:t>
            </a:r>
          </a:p>
          <a:p>
            <a:pPr>
              <a:defRPr sz="1300">
                <a:solidFill>
                  <a:srgbClr val="3C3C3C"/>
                </a:solidFill>
                <a:latin typeface="Arial"/>
              </a:defRPr>
            </a:pPr>
            <a:r>
              <a:t>Students can transfer any amount (e.g. ₦1,000 → 4 ride points) using any banking app, USSD code, OPay, or PalmPay.</a:t>
            </a:r>
          </a:p>
        </p:txBody>
      </p:sp>
      <p:sp>
        <p:nvSpPr>
          <p:cNvPr id="12" name="Rectangle 11"/>
          <p:cNvSpPr/>
          <p:nvPr/>
        </p:nvSpPr>
        <p:spPr>
          <a:xfrm>
            <a:off x="5303520" y="2773680"/>
            <a:ext cx="6888175" cy="2042160"/>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3093720"/>
            <a:ext cx="5973775" cy="1280160"/>
          </a:xfrm>
          <a:prstGeom prst="rect">
            <a:avLst/>
          </a:prstGeom>
          <a:noFill/>
        </p:spPr>
        <p:txBody>
          <a:bodyPr wrap="square">
            <a:spAutoFit/>
          </a:bodyPr>
          <a:lstStyle/>
          <a:p>
            <a:pPr>
              <a:spcAft>
                <a:spcPts val="600"/>
              </a:spcAft>
              <a:defRPr sz="1400" b="1">
                <a:solidFill>
                  <a:srgbClr val="0A0A0A"/>
                </a:solidFill>
                <a:latin typeface="Arial Black"/>
              </a:defRPr>
            </a:pPr>
            <a:r>
              <a:t>INSTANT WALLET CREDIT</a:t>
            </a:r>
          </a:p>
          <a:p>
            <a:pPr>
              <a:defRPr sz="1300">
                <a:solidFill>
                  <a:srgbClr val="3C3C3C"/>
                </a:solidFill>
                <a:latin typeface="Arial"/>
              </a:defRPr>
            </a:pPr>
            <a:r>
              <a:t>Secure automated payment alerts credit student wallets within 2 seconds, safely converting every naira into usable ride points.</a:t>
            </a:r>
          </a:p>
        </p:txBody>
      </p:sp>
      <p:sp>
        <p:nvSpPr>
          <p:cNvPr id="14" name="Rectangle 13"/>
          <p:cNvSpPr/>
          <p:nvPr/>
        </p:nvSpPr>
        <p:spPr>
          <a:xfrm>
            <a:off x="5303520" y="4815840"/>
            <a:ext cx="6888175" cy="2042160"/>
          </a:xfrm>
          <a:prstGeom prst="rect">
            <a:avLst/>
          </a:prstGeom>
          <a:solidFill>
            <a:srgbClr val="FFFFF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5135880"/>
            <a:ext cx="5973775" cy="1280160"/>
          </a:xfrm>
          <a:prstGeom prst="rect">
            <a:avLst/>
          </a:prstGeom>
          <a:noFill/>
        </p:spPr>
        <p:txBody>
          <a:bodyPr wrap="square">
            <a:spAutoFit/>
          </a:bodyPr>
          <a:lstStyle/>
          <a:p>
            <a:pPr>
              <a:spcAft>
                <a:spcPts val="600"/>
              </a:spcAft>
              <a:defRPr sz="1400" b="1">
                <a:solidFill>
                  <a:srgbClr val="0A0A0A"/>
                </a:solidFill>
                <a:latin typeface="Arial Black"/>
              </a:defRPr>
            </a:pPr>
            <a:r>
              <a:t>CAMPUS CASH BOOTH ALTERNATIVE</a:t>
            </a:r>
          </a:p>
          <a:p>
            <a:pPr>
              <a:defRPr sz="1300">
                <a:solidFill>
                  <a:srgbClr val="3C3C3C"/>
                </a:solidFill>
                <a:latin typeface="Arial"/>
              </a:defRPr>
            </a:pPr>
            <a:r>
              <a:t>An on-campus service desk allows designated university staff to credit student cards with cash whenever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07</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SYSTEM COMPARISON</a:t>
            </a:r>
          </a:p>
        </p:txBody>
      </p:sp>
      <p:sp>
        <p:nvSpPr>
          <p:cNvPr id="5" name="Rectangle 4"/>
          <p:cNvSpPr/>
          <p:nvPr/>
        </p:nvSpPr>
        <p:spPr>
          <a:xfrm>
            <a:off x="9658807" y="182880"/>
            <a:ext cx="2167128"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WHY HYPERION WINS</a:t>
            </a:r>
          </a:p>
        </p:txBody>
      </p:sp>
      <p:sp>
        <p:nvSpPr>
          <p:cNvPr id="6" name="Rectangle 5"/>
          <p:cNvSpPr/>
          <p:nvPr/>
        </p:nvSpPr>
        <p:spPr>
          <a:xfrm>
            <a:off x="0" y="731520"/>
            <a:ext cx="12191695" cy="6126480"/>
          </a:xfrm>
          <a:prstGeom prst="rect">
            <a:avLst/>
          </a:prstGeom>
          <a:solidFill>
            <a:srgbClr val="FFFFFF"/>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097280"/>
          <a:ext cx="11094415" cy="5303520"/>
        </p:xfrm>
        <a:graphic>
          <a:graphicData uri="http://schemas.openxmlformats.org/drawingml/2006/table">
            <a:tbl>
              <a:tblPr firstRow="1" bandRow="1">
                <a:tableStyleId>{5C22544A-7EE6-4342-B048-85BDC9FD1C3A}</a:tableStyleId>
              </a:tblPr>
              <a:tblGrid>
                <a:gridCol w="2286000"/>
                <a:gridCol w="2194560"/>
                <a:gridCol w="2194560"/>
                <a:gridCol w="2194560"/>
                <a:gridCol w="2224735"/>
              </a:tblGrid>
              <a:tr h="883920">
                <a:tc>
                  <a:txBody>
                    <a:bodyPr/>
                    <a:lstStyle/>
                    <a:p>
                      <a:pPr>
                        <a:defRPr sz="1050" b="1">
                          <a:solidFill>
                            <a:srgbClr val="FFFFFF"/>
                          </a:solidFill>
                          <a:latin typeface="Arial Black"/>
                        </a:defRPr>
                      </a:pPr>
                      <a:r>
                        <a:t>KEY FEATURE</a:t>
                      </a:r>
                    </a:p>
                  </a:txBody>
                  <a:tcPr>
                    <a:solidFill>
                      <a:srgbClr val="0A0A0A"/>
                    </a:solidFill>
                  </a:tcPr>
                </a:tc>
                <a:tc>
                  <a:txBody>
                    <a:bodyPr/>
                    <a:lstStyle/>
                    <a:p>
                      <a:pPr>
                        <a:defRPr sz="1050" b="1">
                          <a:solidFill>
                            <a:srgbClr val="FFFFFF"/>
                          </a:solidFill>
                          <a:latin typeface="Arial Black"/>
                        </a:defRPr>
                      </a:pPr>
                      <a:r>
                        <a:t>CASH / PAPER TICKETS</a:t>
                      </a:r>
                    </a:p>
                  </a:txBody>
                  <a:tcPr>
                    <a:solidFill>
                      <a:srgbClr val="0A0A0A"/>
                    </a:solidFill>
                  </a:tcPr>
                </a:tc>
                <a:tc>
                  <a:txBody>
                    <a:bodyPr/>
                    <a:lstStyle/>
                    <a:p>
                      <a:pPr>
                        <a:defRPr sz="1050" b="1">
                          <a:solidFill>
                            <a:srgbClr val="FFFFFF"/>
                          </a:solidFill>
                          <a:latin typeface="Arial Black"/>
                        </a:defRPr>
                      </a:pPr>
                      <a:r>
                        <a:t>REGULAR RIDE APPS</a:t>
                      </a:r>
                    </a:p>
                  </a:txBody>
                  <a:tcPr>
                    <a:solidFill>
                      <a:srgbClr val="0A0A0A"/>
                    </a:solidFill>
                  </a:tcPr>
                </a:tc>
                <a:tc>
                  <a:txBody>
                    <a:bodyPr/>
                    <a:lstStyle/>
                    <a:p>
                      <a:pPr>
                        <a:defRPr sz="1050" b="1">
                          <a:solidFill>
                            <a:srgbClr val="FFFFFF"/>
                          </a:solidFill>
                          <a:latin typeface="Arial Black"/>
                        </a:defRPr>
                      </a:pPr>
                      <a:r>
                        <a:t>STANDARD POS MACHINES</a:t>
                      </a:r>
                    </a:p>
                  </a:txBody>
                  <a:tcPr>
                    <a:solidFill>
                      <a:srgbClr val="0A0A0A"/>
                    </a:solidFill>
                  </a:tcPr>
                </a:tc>
                <a:tc>
                  <a:txBody>
                    <a:bodyPr/>
                    <a:lstStyle/>
                    <a:p>
                      <a:pPr>
                        <a:defRPr sz="1050" b="1">
                          <a:solidFill>
                            <a:srgbClr val="FFFFFF"/>
                          </a:solidFill>
                          <a:latin typeface="Arial Black"/>
                        </a:defRPr>
                      </a:pPr>
                      <a:r>
                        <a:t>HYPERION TRANSIT</a:t>
                      </a:r>
                    </a:p>
                  </a:txBody>
                  <a:tcPr>
                    <a:solidFill>
                      <a:srgbClr val="0A0A0A"/>
                    </a:solidFill>
                  </a:tcPr>
                </a:tc>
              </a:tr>
              <a:tr h="883920">
                <a:tc>
                  <a:txBody>
                    <a:bodyPr/>
                    <a:lstStyle/>
                    <a:p>
                      <a:pPr>
                        <a:defRPr sz="1100" b="1">
                          <a:solidFill>
                            <a:srgbClr val="0A0A0A"/>
                          </a:solidFill>
                          <a:latin typeface="Arial"/>
                        </a:defRPr>
                      </a:pPr>
                      <a:r>
                        <a:t>Boarding Speed</a:t>
                      </a:r>
                    </a:p>
                  </a:txBody>
                  <a:tcPr>
                    <a:solidFill>
                      <a:srgbClr val="F5F5F5"/>
                    </a:solidFill>
                  </a:tcPr>
                </a:tc>
                <a:tc>
                  <a:txBody>
                    <a:bodyPr/>
                    <a:lstStyle/>
                    <a:p>
                      <a:pPr>
                        <a:defRPr sz="1100" b="0">
                          <a:solidFill>
                            <a:srgbClr val="0A0A0A"/>
                          </a:solidFill>
                          <a:latin typeface="Arial"/>
                        </a:defRPr>
                      </a:pPr>
                      <a:r>
                        <a:t>Slow (15 – 30 seconds)</a:t>
                      </a:r>
                    </a:p>
                  </a:txBody>
                  <a:tcPr>
                    <a:solidFill>
                      <a:srgbClr val="F5F5F5"/>
                    </a:solidFill>
                  </a:tcPr>
                </a:tc>
                <a:tc>
                  <a:txBody>
                    <a:bodyPr/>
                    <a:lstStyle/>
                    <a:p>
                      <a:pPr>
                        <a:defRPr sz="1100" b="0">
                          <a:solidFill>
                            <a:srgbClr val="0A0A0A"/>
                          </a:solidFill>
                          <a:latin typeface="Arial"/>
                        </a:defRPr>
                      </a:pPr>
                      <a:r>
                        <a:t>Moderate (8 – 15 seconds)</a:t>
                      </a:r>
                    </a:p>
                  </a:txBody>
                  <a:tcPr>
                    <a:solidFill>
                      <a:srgbClr val="F5F5F5"/>
                    </a:solidFill>
                  </a:tcPr>
                </a:tc>
                <a:tc>
                  <a:txBody>
                    <a:bodyPr/>
                    <a:lstStyle/>
                    <a:p>
                      <a:pPr>
                        <a:defRPr sz="1100" b="0">
                          <a:solidFill>
                            <a:srgbClr val="0A0A0A"/>
                          </a:solidFill>
                          <a:latin typeface="Arial"/>
                        </a:defRPr>
                      </a:pPr>
                      <a:r>
                        <a:t>Slow (10 – 20 seconds)</a:t>
                      </a:r>
                    </a:p>
                  </a:txBody>
                  <a:tcPr>
                    <a:solidFill>
                      <a:srgbClr val="F5F5F5"/>
                    </a:solidFill>
                  </a:tcPr>
                </a:tc>
                <a:tc>
                  <a:txBody>
                    <a:bodyPr/>
                    <a:lstStyle/>
                    <a:p>
                      <a:pPr>
                        <a:defRPr sz="1100" b="1">
                          <a:solidFill>
                            <a:srgbClr val="0A0A0A"/>
                          </a:solidFill>
                          <a:latin typeface="Arial"/>
                        </a:defRPr>
                      </a:pPr>
                      <a:r>
                        <a:t>Instant (&lt; 0.5s Card/QR Tap)</a:t>
                      </a:r>
                    </a:p>
                  </a:txBody>
                  <a:tcPr>
                    <a:solidFill>
                      <a:srgbClr val="E5EDD6"/>
                    </a:solidFill>
                  </a:tcPr>
                </a:tc>
              </a:tr>
              <a:tr h="883920">
                <a:tc>
                  <a:txBody>
                    <a:bodyPr/>
                    <a:lstStyle/>
                    <a:p>
                      <a:pPr>
                        <a:defRPr sz="1100" b="1">
                          <a:solidFill>
                            <a:srgbClr val="0A0A0A"/>
                          </a:solidFill>
                          <a:latin typeface="Arial"/>
                        </a:defRPr>
                      </a:pPr>
                      <a:r>
                        <a:t>Offline Capability</a:t>
                      </a:r>
                    </a:p>
                  </a:txBody>
                  <a:tcPr>
                    <a:solidFill>
                      <a:srgbClr val="FFFFFF"/>
                    </a:solidFill>
                  </a:tcPr>
                </a:tc>
                <a:tc>
                  <a:txBody>
                    <a:bodyPr/>
                    <a:lstStyle/>
                    <a:p>
                      <a:pPr>
                        <a:defRPr sz="1100" b="0">
                          <a:solidFill>
                            <a:srgbClr val="0A0A0A"/>
                          </a:solidFill>
                          <a:latin typeface="Arial"/>
                        </a:defRPr>
                      </a:pPr>
                      <a:r>
                        <a:t>Unmonitored cash</a:t>
                      </a:r>
                    </a:p>
                  </a:txBody>
                  <a:tcPr>
                    <a:solidFill>
                      <a:srgbClr val="FFFFFF"/>
                    </a:solidFill>
                  </a:tcPr>
                </a:tc>
                <a:tc>
                  <a:txBody>
                    <a:bodyPr/>
                    <a:lstStyle/>
                    <a:p>
                      <a:pPr>
                        <a:defRPr sz="1100" b="0">
                          <a:solidFill>
                            <a:srgbClr val="0A0A0A"/>
                          </a:solidFill>
                          <a:latin typeface="Arial"/>
                        </a:defRPr>
                      </a:pPr>
                      <a:r>
                        <a:t>Fails with poor signal</a:t>
                      </a:r>
                    </a:p>
                  </a:txBody>
                  <a:tcPr>
                    <a:solidFill>
                      <a:srgbClr val="FFFFFF"/>
                    </a:solidFill>
                  </a:tcPr>
                </a:tc>
                <a:tc>
                  <a:txBody>
                    <a:bodyPr/>
                    <a:lstStyle/>
                    <a:p>
                      <a:pPr>
                        <a:defRPr sz="1100" b="0">
                          <a:solidFill>
                            <a:srgbClr val="0A0A0A"/>
                          </a:solidFill>
                          <a:latin typeface="Arial"/>
                        </a:defRPr>
                      </a:pPr>
                      <a:r>
                        <a:t>Fails with poor signal</a:t>
                      </a:r>
                    </a:p>
                  </a:txBody>
                  <a:tcPr>
                    <a:solidFill>
                      <a:srgbClr val="FFFFFF"/>
                    </a:solidFill>
                  </a:tcPr>
                </a:tc>
                <a:tc>
                  <a:txBody>
                    <a:bodyPr/>
                    <a:lstStyle/>
                    <a:p>
                      <a:pPr>
                        <a:defRPr sz="1100" b="1">
                          <a:solidFill>
                            <a:srgbClr val="0A0A0A"/>
                          </a:solidFill>
                          <a:latin typeface="Arial"/>
                        </a:defRPr>
                      </a:pPr>
                      <a:r>
                        <a:t>Works Offline &amp; Syncs Later</a:t>
                      </a:r>
                    </a:p>
                  </a:txBody>
                  <a:tcPr>
                    <a:solidFill>
                      <a:srgbClr val="E5EDD6"/>
                    </a:solidFill>
                  </a:tcPr>
                </a:tc>
              </a:tr>
              <a:tr h="883920">
                <a:tc>
                  <a:txBody>
                    <a:bodyPr/>
                    <a:lstStyle/>
                    <a:p>
                      <a:pPr>
                        <a:defRPr sz="1100" b="1">
                          <a:solidFill>
                            <a:srgbClr val="0A0A0A"/>
                          </a:solidFill>
                          <a:latin typeface="Arial"/>
                        </a:defRPr>
                      </a:pPr>
                      <a:r>
                        <a:t>Bus Hardware</a:t>
                      </a:r>
                    </a:p>
                  </a:txBody>
                  <a:tcPr>
                    <a:solidFill>
                      <a:srgbClr val="F5F5F5"/>
                    </a:solidFill>
                  </a:tcPr>
                </a:tc>
                <a:tc>
                  <a:txBody>
                    <a:bodyPr/>
                    <a:lstStyle/>
                    <a:p>
                      <a:pPr>
                        <a:defRPr sz="1100" b="0">
                          <a:solidFill>
                            <a:srgbClr val="0A0A0A"/>
                          </a:solidFill>
                          <a:latin typeface="Arial"/>
                        </a:defRPr>
                      </a:pPr>
                      <a:r>
                        <a:t>None</a:t>
                      </a:r>
                    </a:p>
                  </a:txBody>
                  <a:tcPr>
                    <a:solidFill>
                      <a:srgbClr val="F5F5F5"/>
                    </a:solidFill>
                  </a:tcPr>
                </a:tc>
                <a:tc>
                  <a:txBody>
                    <a:bodyPr/>
                    <a:lstStyle/>
                    <a:p>
                      <a:pPr>
                        <a:defRPr sz="1100" b="0">
                          <a:solidFill>
                            <a:srgbClr val="0A0A0A"/>
                          </a:solidFill>
                          <a:latin typeface="Arial"/>
                        </a:defRPr>
                      </a:pPr>
                      <a:r>
                        <a:t>None (phone only)</a:t>
                      </a:r>
                    </a:p>
                  </a:txBody>
                  <a:tcPr>
                    <a:solidFill>
                      <a:srgbClr val="F5F5F5"/>
                    </a:solidFill>
                  </a:tcPr>
                </a:tc>
                <a:tc>
                  <a:txBody>
                    <a:bodyPr/>
                    <a:lstStyle/>
                    <a:p>
                      <a:pPr>
                        <a:defRPr sz="1100" b="0">
                          <a:solidFill>
                            <a:srgbClr val="0A0A0A"/>
                          </a:solidFill>
                          <a:latin typeface="Arial"/>
                        </a:defRPr>
                      </a:pPr>
                      <a:r>
                        <a:t>Generic bank POS</a:t>
                      </a:r>
                    </a:p>
                  </a:txBody>
                  <a:tcPr>
                    <a:solidFill>
                      <a:srgbClr val="F5F5F5"/>
                    </a:solidFill>
                  </a:tcPr>
                </a:tc>
                <a:tc>
                  <a:txBody>
                    <a:bodyPr/>
                    <a:lstStyle/>
                    <a:p>
                      <a:pPr>
                        <a:defRPr sz="1100" b="1">
                          <a:solidFill>
                            <a:srgbClr val="0A0A0A"/>
                          </a:solidFill>
                          <a:latin typeface="Arial"/>
                        </a:defRPr>
                      </a:pPr>
                      <a:r>
                        <a:t>Custom Scanner &amp; Embedded IoT</a:t>
                      </a:r>
                    </a:p>
                  </a:txBody>
                  <a:tcPr>
                    <a:solidFill>
                      <a:srgbClr val="E5EDD6"/>
                    </a:solidFill>
                  </a:tcPr>
                </a:tc>
              </a:tr>
              <a:tr h="883920">
                <a:tc>
                  <a:txBody>
                    <a:bodyPr/>
                    <a:lstStyle/>
                    <a:p>
                      <a:pPr>
                        <a:defRPr sz="1100" b="1">
                          <a:solidFill>
                            <a:srgbClr val="0A0A0A"/>
                          </a:solidFill>
                          <a:latin typeface="Arial"/>
                        </a:defRPr>
                      </a:pPr>
                      <a:r>
                        <a:t>Automated Fares</a:t>
                      </a:r>
                    </a:p>
                  </a:txBody>
                  <a:tcPr>
                    <a:solidFill>
                      <a:srgbClr val="FFFFFF"/>
                    </a:solidFill>
                  </a:tcPr>
                </a:tc>
                <a:tc>
                  <a:txBody>
                    <a:bodyPr/>
                    <a:lstStyle/>
                    <a:p>
                      <a:pPr>
                        <a:defRPr sz="1100" b="0">
                          <a:solidFill>
                            <a:srgbClr val="0A0A0A"/>
                          </a:solidFill>
                          <a:latin typeface="Arial"/>
                        </a:defRPr>
                      </a:pPr>
                      <a:r>
                        <a:t>Manual change issues</a:t>
                      </a:r>
                    </a:p>
                  </a:txBody>
                  <a:tcPr>
                    <a:solidFill>
                      <a:srgbClr val="FFFFFF"/>
                    </a:solidFill>
                  </a:tcPr>
                </a:tc>
                <a:tc>
                  <a:txBody>
                    <a:bodyPr/>
                    <a:lstStyle/>
                    <a:p>
                      <a:pPr>
                        <a:defRPr sz="1100" b="0">
                          <a:solidFill>
                            <a:srgbClr val="0A0A0A"/>
                          </a:solidFill>
                          <a:latin typeface="Arial"/>
                        </a:defRPr>
                      </a:pPr>
                      <a:r>
                        <a:t>Manual card/in-app flow</a:t>
                      </a:r>
                    </a:p>
                  </a:txBody>
                  <a:tcPr>
                    <a:solidFill>
                      <a:srgbClr val="FFFFFF"/>
                    </a:solidFill>
                  </a:tcPr>
                </a:tc>
                <a:tc>
                  <a:txBody>
                    <a:bodyPr/>
                    <a:lstStyle/>
                    <a:p>
                      <a:pPr>
                        <a:defRPr sz="1100" b="0">
                          <a:solidFill>
                            <a:srgbClr val="0A0A0A"/>
                          </a:solidFill>
                          <a:latin typeface="Arial"/>
                        </a:defRPr>
                      </a:pPr>
                      <a:r>
                        <a:t>Bank network dependent</a:t>
                      </a:r>
                    </a:p>
                  </a:txBody>
                  <a:tcPr>
                    <a:solidFill>
                      <a:srgbClr val="FFFFFF"/>
                    </a:solidFill>
                  </a:tcPr>
                </a:tc>
                <a:tc>
                  <a:txBody>
                    <a:bodyPr/>
                    <a:lstStyle/>
                    <a:p>
                      <a:pPr>
                        <a:defRPr sz="1100" b="1">
                          <a:solidFill>
                            <a:srgbClr val="0A0A0A"/>
                          </a:solidFill>
                          <a:latin typeface="Arial"/>
                        </a:defRPr>
                      </a:pPr>
                      <a:r>
                        <a:t>Instant Sub-Second RFID &amp; QR</a:t>
                      </a:r>
                    </a:p>
                  </a:txBody>
                  <a:tcPr>
                    <a:solidFill>
                      <a:srgbClr val="E5EDD6"/>
                    </a:solidFill>
                  </a:tcPr>
                </a:tc>
              </a:tr>
              <a:tr h="883920">
                <a:tc>
                  <a:txBody>
                    <a:bodyPr/>
                    <a:lstStyle/>
                    <a:p>
                      <a:pPr>
                        <a:defRPr sz="1100" b="1">
                          <a:solidFill>
                            <a:srgbClr val="0A0A0A"/>
                          </a:solidFill>
                          <a:latin typeface="Arial"/>
                        </a:defRPr>
                      </a:pPr>
                      <a:r>
                        <a:t>Revenue Accounting</a:t>
                      </a:r>
                    </a:p>
                  </a:txBody>
                  <a:tcPr>
                    <a:solidFill>
                      <a:srgbClr val="F5F5F5"/>
                    </a:solidFill>
                  </a:tcPr>
                </a:tc>
                <a:tc>
                  <a:txBody>
                    <a:bodyPr/>
                    <a:lstStyle/>
                    <a:p>
                      <a:pPr>
                        <a:defRPr sz="1100" b="0">
                          <a:solidFill>
                            <a:srgbClr val="0A0A0A"/>
                          </a:solidFill>
                          <a:latin typeface="Arial"/>
                        </a:defRPr>
                      </a:pPr>
                      <a:r>
                        <a:t>Frequent cash loss (&gt;20%)</a:t>
                      </a:r>
                    </a:p>
                  </a:txBody>
                  <a:tcPr>
                    <a:solidFill>
                      <a:srgbClr val="F5F5F5"/>
                    </a:solidFill>
                  </a:tcPr>
                </a:tc>
                <a:tc>
                  <a:txBody>
                    <a:bodyPr/>
                    <a:lstStyle/>
                    <a:p>
                      <a:pPr>
                        <a:defRPr sz="1100" b="0">
                          <a:solidFill>
                            <a:srgbClr val="0A0A0A"/>
                          </a:solidFill>
                          <a:latin typeface="Arial"/>
                        </a:defRPr>
                      </a:pPr>
                      <a:r>
                        <a:t>App-only rides</a:t>
                      </a:r>
                    </a:p>
                  </a:txBody>
                  <a:tcPr>
                    <a:solidFill>
                      <a:srgbClr val="F5F5F5"/>
                    </a:solidFill>
                  </a:tcPr>
                </a:tc>
                <a:tc>
                  <a:txBody>
                    <a:bodyPr/>
                    <a:lstStyle/>
                    <a:p>
                      <a:pPr>
                        <a:defRPr sz="1100" b="0">
                          <a:solidFill>
                            <a:srgbClr val="0A0A0A"/>
                          </a:solidFill>
                          <a:latin typeface="Arial"/>
                        </a:defRPr>
                      </a:pPr>
                      <a:r>
                        <a:t>Delayed settlements</a:t>
                      </a:r>
                    </a:p>
                  </a:txBody>
                  <a:tcPr>
                    <a:solidFill>
                      <a:srgbClr val="F5F5F5"/>
                    </a:solidFill>
                  </a:tcPr>
                </a:tc>
                <a:tc>
                  <a:txBody>
                    <a:bodyPr/>
                    <a:lstStyle/>
                    <a:p>
                      <a:pPr>
                        <a:defRPr sz="1100" b="1">
                          <a:solidFill>
                            <a:srgbClr val="0A0A0A"/>
                          </a:solidFill>
                          <a:latin typeface="Arial"/>
                        </a:defRPr>
                      </a:pPr>
                      <a:r>
                        <a:t>100% Real-Time &amp; Audited</a:t>
                      </a:r>
                    </a:p>
                  </a:txBody>
                  <a:tcPr>
                    <a:solidFill>
                      <a:srgbClr val="E5EDD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08</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SPEED &amp; PERFORMANCE</a:t>
            </a:r>
          </a:p>
        </p:txBody>
      </p:sp>
      <p:sp>
        <p:nvSpPr>
          <p:cNvPr id="5" name="Rectangle 4"/>
          <p:cNvSpPr/>
          <p:nvPr/>
        </p:nvSpPr>
        <p:spPr>
          <a:xfrm>
            <a:off x="9558223" y="182880"/>
            <a:ext cx="2267712"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SPEED TEST RESULTS</a:t>
            </a:r>
          </a:p>
        </p:txBody>
      </p:sp>
      <p:sp>
        <p:nvSpPr>
          <p:cNvPr id="6" name="Rectangle 5"/>
          <p:cNvSpPr/>
          <p:nvPr/>
        </p:nvSpPr>
        <p:spPr>
          <a:xfrm>
            <a:off x="0" y="731520"/>
            <a:ext cx="6858000" cy="6126480"/>
          </a:xfrm>
          <a:prstGeom prst="rect">
            <a:avLst/>
          </a:prstGeom>
          <a:solidFill>
            <a:srgbClr val="FFFFFF"/>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97280"/>
            <a:ext cx="5760720" cy="731520"/>
          </a:xfrm>
          <a:prstGeom prst="rect">
            <a:avLst/>
          </a:prstGeom>
          <a:noFill/>
        </p:spPr>
        <p:txBody>
          <a:bodyPr wrap="none">
            <a:spAutoFit/>
          </a:bodyPr>
          <a:lstStyle/>
          <a:p>
            <a:pPr>
              <a:defRPr sz="2400" b="1">
                <a:solidFill>
                  <a:srgbClr val="0A0A0A"/>
                </a:solidFill>
                <a:latin typeface="Arial Black"/>
              </a:defRPr>
            </a:pPr>
            <a:r>
              <a:t>Response Speed Breakdown</a:t>
            </a:r>
          </a:p>
        </p:txBody>
      </p:sp>
      <p:sp>
        <p:nvSpPr>
          <p:cNvPr id="8" name="TextBox 7"/>
          <p:cNvSpPr txBox="1"/>
          <p:nvPr/>
        </p:nvSpPr>
        <p:spPr>
          <a:xfrm>
            <a:off x="548640" y="2011680"/>
            <a:ext cx="5760720" cy="320040"/>
          </a:xfrm>
          <a:prstGeom prst="rect">
            <a:avLst/>
          </a:prstGeom>
          <a:noFill/>
        </p:spPr>
        <p:txBody>
          <a:bodyPr wrap="none">
            <a:spAutoFit/>
          </a:bodyPr>
          <a:lstStyle/>
          <a:p>
            <a:pPr>
              <a:defRPr sz="1000" b="1">
                <a:solidFill>
                  <a:srgbClr val="262626"/>
                </a:solidFill>
                <a:latin typeface="Arial Black"/>
              </a:defRPr>
            </a:pPr>
            <a:r>
              <a:t>1. OFFLINE CARD TAP (45MS — INSTANT)</a:t>
            </a:r>
          </a:p>
        </p:txBody>
      </p:sp>
      <p:sp>
        <p:nvSpPr>
          <p:cNvPr id="9" name="Rectangle 8"/>
          <p:cNvSpPr/>
          <p:nvPr/>
        </p:nvSpPr>
        <p:spPr>
          <a:xfrm>
            <a:off x="548640" y="2331720"/>
            <a:ext cx="5760720" cy="457200"/>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31720"/>
            <a:ext cx="1152144" cy="457200"/>
          </a:xfrm>
          <a:prstGeom prst="rect">
            <a:avLst/>
          </a:prstGeom>
          <a:solidFill>
            <a:srgbClr val="E5EDD6"/>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A0A0A"/>
                </a:solidFill>
                <a:latin typeface="Arial Black"/>
              </a:defRPr>
            </a:pPr>
            <a:r>
              <a:t>45ms</a:t>
            </a:r>
          </a:p>
        </p:txBody>
      </p:sp>
      <p:sp>
        <p:nvSpPr>
          <p:cNvPr id="11" name="TextBox 10"/>
          <p:cNvSpPr txBox="1"/>
          <p:nvPr/>
        </p:nvSpPr>
        <p:spPr>
          <a:xfrm>
            <a:off x="548640" y="3108960"/>
            <a:ext cx="5760720" cy="320040"/>
          </a:xfrm>
          <a:prstGeom prst="rect">
            <a:avLst/>
          </a:prstGeom>
          <a:noFill/>
        </p:spPr>
        <p:txBody>
          <a:bodyPr wrap="none">
            <a:spAutoFit/>
          </a:bodyPr>
          <a:lstStyle/>
          <a:p>
            <a:pPr>
              <a:defRPr sz="1000" b="1">
                <a:solidFill>
                  <a:srgbClr val="262626"/>
                </a:solidFill>
                <a:latin typeface="Arial Black"/>
              </a:defRPr>
            </a:pPr>
            <a:r>
              <a:t>2. ONLINE CARD TAP (180MS — BLAZING FAST)</a:t>
            </a:r>
          </a:p>
        </p:txBody>
      </p:sp>
      <p:sp>
        <p:nvSpPr>
          <p:cNvPr id="12" name="Rectangle 11"/>
          <p:cNvSpPr/>
          <p:nvPr/>
        </p:nvSpPr>
        <p:spPr>
          <a:xfrm>
            <a:off x="548640" y="3429000"/>
            <a:ext cx="5760720" cy="457200"/>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29000"/>
            <a:ext cx="2419502" cy="457200"/>
          </a:xfrm>
          <a:prstGeom prst="rect">
            <a:avLst/>
          </a:prstGeom>
          <a:solidFill>
            <a:srgbClr val="F2D4CF"/>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A0A0A"/>
                </a:solidFill>
                <a:latin typeface="Arial Black"/>
              </a:defRPr>
            </a:pPr>
            <a:r>
              <a:t>180ms</a:t>
            </a:r>
          </a:p>
        </p:txBody>
      </p:sp>
      <p:sp>
        <p:nvSpPr>
          <p:cNvPr id="14" name="TextBox 13"/>
          <p:cNvSpPr txBox="1"/>
          <p:nvPr/>
        </p:nvSpPr>
        <p:spPr>
          <a:xfrm>
            <a:off x="548640" y="4206240"/>
            <a:ext cx="5760720" cy="320040"/>
          </a:xfrm>
          <a:prstGeom prst="rect">
            <a:avLst/>
          </a:prstGeom>
          <a:noFill/>
        </p:spPr>
        <p:txBody>
          <a:bodyPr wrap="none">
            <a:spAutoFit/>
          </a:bodyPr>
          <a:lstStyle/>
          <a:p>
            <a:pPr>
              <a:defRPr sz="1000" b="1">
                <a:solidFill>
                  <a:srgbClr val="262626"/>
                </a:solidFill>
                <a:latin typeface="Arial Black"/>
              </a:defRPr>
            </a:pPr>
            <a:r>
              <a:t>3. PHONE QR CODE SCAN (420MS — UNDER HALF A SECOND)</a:t>
            </a:r>
          </a:p>
        </p:txBody>
      </p:sp>
      <p:sp>
        <p:nvSpPr>
          <p:cNvPr id="15" name="Rectangle 14"/>
          <p:cNvSpPr/>
          <p:nvPr/>
        </p:nvSpPr>
        <p:spPr>
          <a:xfrm>
            <a:off x="548640" y="4526280"/>
            <a:ext cx="5760720" cy="457200"/>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526280"/>
            <a:ext cx="3917289" cy="457200"/>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A0A0A"/>
                </a:solidFill>
                <a:latin typeface="Arial Black"/>
              </a:defRPr>
            </a:pPr>
            <a:r>
              <a:t>420ms</a:t>
            </a:r>
          </a:p>
        </p:txBody>
      </p:sp>
      <p:sp>
        <p:nvSpPr>
          <p:cNvPr id="17" name="TextBox 16"/>
          <p:cNvSpPr txBox="1"/>
          <p:nvPr/>
        </p:nvSpPr>
        <p:spPr>
          <a:xfrm>
            <a:off x="548640" y="5303519"/>
            <a:ext cx="5760720" cy="320040"/>
          </a:xfrm>
          <a:prstGeom prst="rect">
            <a:avLst/>
          </a:prstGeom>
          <a:noFill/>
        </p:spPr>
        <p:txBody>
          <a:bodyPr wrap="none">
            <a:spAutoFit/>
          </a:bodyPr>
          <a:lstStyle/>
          <a:p>
            <a:pPr>
              <a:defRPr sz="1000" b="1">
                <a:solidFill>
                  <a:srgbClr val="262626"/>
                </a:solidFill>
                <a:latin typeface="Arial Black"/>
              </a:defRPr>
            </a:pPr>
            <a:r>
              <a:t>4. BANK TRANSFER WALLET UPDATE (1.2S — NEAR-INSTANT)</a:t>
            </a:r>
          </a:p>
        </p:txBody>
      </p:sp>
      <p:sp>
        <p:nvSpPr>
          <p:cNvPr id="18" name="Rectangle 17"/>
          <p:cNvSpPr/>
          <p:nvPr/>
        </p:nvSpPr>
        <p:spPr>
          <a:xfrm>
            <a:off x="548640" y="5623559"/>
            <a:ext cx="5760720" cy="457200"/>
          </a:xfrm>
          <a:prstGeom prst="rect">
            <a:avLst/>
          </a:prstGeom>
          <a:solidFill>
            <a:srgbClr val="F5F5F5"/>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623559"/>
            <a:ext cx="5472684" cy="457200"/>
          </a:xfrm>
          <a:prstGeom prst="rect">
            <a:avLst/>
          </a:prstGeom>
          <a:solidFill>
            <a:srgbClr val="0A0A0A"/>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Black"/>
              </a:defRPr>
            </a:pPr>
            <a:r>
              <a:t>1.2s</a:t>
            </a:r>
          </a:p>
        </p:txBody>
      </p:sp>
      <p:sp>
        <p:nvSpPr>
          <p:cNvPr id="20" name="Rectangle 19"/>
          <p:cNvSpPr/>
          <p:nvPr/>
        </p:nvSpPr>
        <p:spPr>
          <a:xfrm>
            <a:off x="6858000" y="731520"/>
            <a:ext cx="5333695" cy="6126480"/>
          </a:xfrm>
          <a:prstGeom prst="rect">
            <a:avLst/>
          </a:prstGeom>
          <a:solidFill>
            <a:srgbClr val="F2D4CF"/>
          </a:solidFill>
          <a:ln w="317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0" y="1463040"/>
            <a:ext cx="4419295" cy="201168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0" y="1645920"/>
            <a:ext cx="4053535" cy="1645920"/>
          </a:xfrm>
          <a:prstGeom prst="rect">
            <a:avLst/>
          </a:prstGeom>
          <a:noFill/>
        </p:spPr>
        <p:txBody>
          <a:bodyPr wrap="square">
            <a:spAutoFit/>
          </a:bodyPr>
          <a:lstStyle/>
          <a:p>
            <a:pPr>
              <a:defRPr sz="3600" b="1">
                <a:solidFill>
                  <a:srgbClr val="0A0A0A"/>
                </a:solidFill>
                <a:latin typeface="Arial Black"/>
              </a:defRPr>
            </a:pPr>
            <a:r>
              <a:t>&lt; 0.2s</a:t>
            </a:r>
          </a:p>
          <a:p>
            <a:pPr>
              <a:spcAft>
                <a:spcPts val="400"/>
              </a:spcAft>
              <a:defRPr sz="1200" b="1">
                <a:solidFill>
                  <a:srgbClr val="0A0A0A"/>
                </a:solidFill>
                <a:latin typeface="Arial Black"/>
              </a:defRPr>
            </a:pPr>
            <a:r>
              <a:t>AVERAGE TAP VERIFICATION</a:t>
            </a:r>
          </a:p>
          <a:p>
            <a:pPr>
              <a:defRPr sz="1200">
                <a:solidFill>
                  <a:srgbClr val="3C3C3C"/>
                </a:solidFill>
                <a:latin typeface="Arial"/>
              </a:defRPr>
            </a:pPr>
            <a:r>
              <a:t>Passengers can tap and step right in without waiting for slow loading screens.</a:t>
            </a:r>
          </a:p>
        </p:txBody>
      </p:sp>
      <p:sp>
        <p:nvSpPr>
          <p:cNvPr id="23" name="Rectangle 22"/>
          <p:cNvSpPr/>
          <p:nvPr/>
        </p:nvSpPr>
        <p:spPr>
          <a:xfrm>
            <a:off x="7315200" y="4023359"/>
            <a:ext cx="4419295" cy="201168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0" y="4206239"/>
            <a:ext cx="4053535" cy="1645920"/>
          </a:xfrm>
          <a:prstGeom prst="rect">
            <a:avLst/>
          </a:prstGeom>
          <a:noFill/>
        </p:spPr>
        <p:txBody>
          <a:bodyPr wrap="square">
            <a:spAutoFit/>
          </a:bodyPr>
          <a:lstStyle/>
          <a:p>
            <a:pPr>
              <a:defRPr sz="3600" b="1">
                <a:solidFill>
                  <a:srgbClr val="0A0A0A"/>
                </a:solidFill>
                <a:latin typeface="Arial Black"/>
              </a:defRPr>
            </a:pPr>
            <a:r>
              <a:t>99.98%</a:t>
            </a:r>
          </a:p>
          <a:p>
            <a:pPr>
              <a:spcAft>
                <a:spcPts val="400"/>
              </a:spcAft>
              <a:defRPr sz="1200" b="1">
                <a:solidFill>
                  <a:srgbClr val="0A0A0A"/>
                </a:solidFill>
                <a:latin typeface="Arial Black"/>
              </a:defRPr>
            </a:pPr>
            <a:r>
              <a:t>TRANSACTION RELIABILITY</a:t>
            </a:r>
          </a:p>
          <a:p>
            <a:pPr>
              <a:defRPr sz="1200">
                <a:solidFill>
                  <a:srgbClr val="3C3C3C"/>
                </a:solidFill>
                <a:latin typeface="Arial"/>
              </a:defRPr>
            </a:pPr>
            <a:r>
              <a:t>Built-in safety checks ensure students are never charged twice for the same ride.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64592"/>
            <a:ext cx="411480" cy="402336"/>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300" b="1">
                <a:solidFill>
                  <a:srgbClr val="FFFFFF"/>
                </a:solidFill>
                <a:latin typeface="Arial Black"/>
              </a:defRPr>
            </a:pPr>
            <a:r>
              <a:t>09</a:t>
            </a:r>
          </a:p>
        </p:txBody>
      </p:sp>
      <p:sp>
        <p:nvSpPr>
          <p:cNvPr id="4" name="TextBox 3"/>
          <p:cNvSpPr txBox="1"/>
          <p:nvPr/>
        </p:nvSpPr>
        <p:spPr>
          <a:xfrm>
            <a:off x="868680" y="137160"/>
            <a:ext cx="6858000" cy="457200"/>
          </a:xfrm>
          <a:prstGeom prst="rect">
            <a:avLst/>
          </a:prstGeom>
          <a:noFill/>
        </p:spPr>
        <p:txBody>
          <a:bodyPr wrap="none" anchor="ctr">
            <a:spAutoFit/>
          </a:bodyPr>
          <a:lstStyle/>
          <a:p>
            <a:pPr>
              <a:defRPr sz="1400" b="1">
                <a:solidFill>
                  <a:srgbClr val="0A0A0A"/>
                </a:solidFill>
                <a:latin typeface="Arial Black"/>
              </a:defRPr>
            </a:pPr>
            <a:r>
              <a:t>LIVE EXHIBITION DEMO</a:t>
            </a:r>
          </a:p>
        </p:txBody>
      </p:sp>
      <p:sp>
        <p:nvSpPr>
          <p:cNvPr id="5" name="Rectangle 4"/>
          <p:cNvSpPr/>
          <p:nvPr/>
        </p:nvSpPr>
        <p:spPr>
          <a:xfrm>
            <a:off x="8954719" y="182880"/>
            <a:ext cx="2871216" cy="365760"/>
          </a:xfrm>
          <a:prstGeom prst="rect">
            <a:avLst/>
          </a:prstGeom>
          <a:solidFill>
            <a:srgbClr val="0A0A0A"/>
          </a:solidFill>
          <a:ln w="127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Arial Black"/>
              </a:defRPr>
            </a:pPr>
            <a:r>
              <a:t>STEP-BY-STEP WALKTHROUGH</a:t>
            </a:r>
          </a:p>
        </p:txBody>
      </p:sp>
      <p:sp>
        <p:nvSpPr>
          <p:cNvPr id="6" name="Rectangle 5"/>
          <p:cNvSpPr/>
          <p:nvPr/>
        </p:nvSpPr>
        <p:spPr>
          <a:xfrm>
            <a:off x="0" y="731520"/>
            <a:ext cx="6095847" cy="306324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364327" cy="2514600"/>
          </a:xfrm>
          <a:prstGeom prst="rect">
            <a:avLst/>
          </a:prstGeom>
          <a:noFill/>
        </p:spPr>
        <p:txBody>
          <a:bodyPr wrap="square">
            <a:spAutoFit/>
          </a:bodyPr>
          <a:lstStyle/>
          <a:p>
            <a:pPr>
              <a:spcAft>
                <a:spcPts val="600"/>
              </a:spcAft>
              <a:defRPr sz="1000">
                <a:solidFill>
                  <a:srgbClr val="262626"/>
                </a:solidFill>
                <a:latin typeface="Arial Black"/>
              </a:defRPr>
            </a:pPr>
            <a:r>
              <a:t>DEMO STAGE 01  |  CARD TAP</a:t>
            </a:r>
          </a:p>
          <a:p>
            <a:pPr>
              <a:spcAft>
                <a:spcPts val="800"/>
              </a:spcAft>
              <a:defRPr sz="1800" b="1">
                <a:solidFill>
                  <a:srgbClr val="0A0A0A"/>
                </a:solidFill>
                <a:latin typeface="Arial Black"/>
              </a:defRPr>
            </a:pPr>
            <a:r>
              <a:t>Card Tap Boarding</a:t>
            </a:r>
          </a:p>
          <a:p>
            <a:pPr>
              <a:spcAft>
                <a:spcPts val="1000"/>
              </a:spcAft>
              <a:defRPr sz="1200">
                <a:solidFill>
                  <a:srgbClr val="3C3C3C"/>
                </a:solidFill>
                <a:latin typeface="Arial"/>
              </a:defRPr>
            </a:pPr>
            <a:r>
              <a:t>Tap the student card on the bus scanner. The screen immediately displays "₦250 Deducted | 4 Pts Remaining", beeps, and lights up green.</a:t>
            </a:r>
          </a:p>
          <a:p>
            <a:pPr>
              <a:defRPr sz="950" b="1">
                <a:solidFill>
                  <a:srgbClr val="262626"/>
                </a:solidFill>
                <a:latin typeface="Arial Black"/>
              </a:defRPr>
            </a:pPr>
            <a:r>
              <a:t>INSTANT PASSENGER VALIDATION</a:t>
            </a:r>
          </a:p>
        </p:txBody>
      </p:sp>
      <p:sp>
        <p:nvSpPr>
          <p:cNvPr id="8" name="Rectangle 7"/>
          <p:cNvSpPr/>
          <p:nvPr/>
        </p:nvSpPr>
        <p:spPr>
          <a:xfrm>
            <a:off x="6095390" y="731520"/>
            <a:ext cx="6095847" cy="3063240"/>
          </a:xfrm>
          <a:prstGeom prst="rect">
            <a:avLst/>
          </a:prstGeom>
          <a:solidFill>
            <a:srgbClr val="F2D4C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150" y="1005840"/>
            <a:ext cx="5364327" cy="2514600"/>
          </a:xfrm>
          <a:prstGeom prst="rect">
            <a:avLst/>
          </a:prstGeom>
          <a:noFill/>
        </p:spPr>
        <p:txBody>
          <a:bodyPr wrap="square">
            <a:spAutoFit/>
          </a:bodyPr>
          <a:lstStyle/>
          <a:p>
            <a:pPr>
              <a:spcAft>
                <a:spcPts val="600"/>
              </a:spcAft>
              <a:defRPr sz="1000">
                <a:solidFill>
                  <a:srgbClr val="262626"/>
                </a:solidFill>
                <a:latin typeface="Arial Black"/>
              </a:defRPr>
            </a:pPr>
            <a:r>
              <a:t>DEMO STAGE 02  |  PHONE QR</a:t>
            </a:r>
          </a:p>
          <a:p>
            <a:pPr>
              <a:spcAft>
                <a:spcPts val="800"/>
              </a:spcAft>
              <a:defRPr sz="1800" b="1">
                <a:solidFill>
                  <a:srgbClr val="0A0A0A"/>
                </a:solidFill>
                <a:latin typeface="Arial Black"/>
              </a:defRPr>
            </a:pPr>
            <a:r>
              <a:t>Phone QR Boarding</a:t>
            </a:r>
          </a:p>
          <a:p>
            <a:pPr>
              <a:spcAft>
                <a:spcPts val="1000"/>
              </a:spcAft>
              <a:defRPr sz="1200">
                <a:solidFill>
                  <a:srgbClr val="3C3C3C"/>
                </a:solidFill>
                <a:latin typeface="Arial"/>
              </a:defRPr>
            </a:pPr>
            <a:r>
              <a:t>Open the student app and scan the driver's QR code. The fare is deducted immediately with no need to type in a PIN or password.</a:t>
            </a:r>
          </a:p>
          <a:p>
            <a:pPr>
              <a:defRPr sz="950" b="1">
                <a:solidFill>
                  <a:srgbClr val="262626"/>
                </a:solidFill>
                <a:latin typeface="Arial Black"/>
              </a:defRPr>
            </a:pPr>
            <a:r>
              <a:t>SMARTPHONE BOARDING PASS</a:t>
            </a:r>
          </a:p>
        </p:txBody>
      </p:sp>
      <p:sp>
        <p:nvSpPr>
          <p:cNvPr id="10" name="Rectangle 9"/>
          <p:cNvSpPr/>
          <p:nvPr/>
        </p:nvSpPr>
        <p:spPr>
          <a:xfrm>
            <a:off x="0" y="3794760"/>
            <a:ext cx="6095847" cy="3063240"/>
          </a:xfrm>
          <a:prstGeom prst="rect">
            <a:avLst/>
          </a:prstGeom>
          <a:solidFill>
            <a:srgbClr val="E5EDD6"/>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069080"/>
            <a:ext cx="5364327" cy="2514600"/>
          </a:xfrm>
          <a:prstGeom prst="rect">
            <a:avLst/>
          </a:prstGeom>
          <a:noFill/>
        </p:spPr>
        <p:txBody>
          <a:bodyPr wrap="square">
            <a:spAutoFit/>
          </a:bodyPr>
          <a:lstStyle/>
          <a:p>
            <a:pPr>
              <a:spcAft>
                <a:spcPts val="600"/>
              </a:spcAft>
              <a:defRPr sz="1000">
                <a:solidFill>
                  <a:srgbClr val="262626"/>
                </a:solidFill>
                <a:latin typeface="Arial Black"/>
              </a:defRPr>
            </a:pPr>
            <a:r>
              <a:t>DEMO STAGE 03  |  BANK TOP-UP</a:t>
            </a:r>
          </a:p>
          <a:p>
            <a:pPr>
              <a:spcAft>
                <a:spcPts val="800"/>
              </a:spcAft>
              <a:defRPr sz="1800" b="1">
                <a:solidFill>
                  <a:srgbClr val="0A0A0A"/>
                </a:solidFill>
                <a:latin typeface="Arial Black"/>
              </a:defRPr>
            </a:pPr>
            <a:r>
              <a:t>Real-Time Bank Deposit</a:t>
            </a:r>
          </a:p>
          <a:p>
            <a:pPr>
              <a:spcAft>
                <a:spcPts val="1000"/>
              </a:spcAft>
              <a:defRPr sz="1200">
                <a:solidFill>
                  <a:srgbClr val="3C3C3C"/>
                </a:solidFill>
                <a:latin typeface="Arial"/>
              </a:defRPr>
            </a:pPr>
            <a:r>
              <a:t>Send ₦500 from a commercial bank app to the student's personal account number. The wallet automatically updates with 2 ride points in seconds.</a:t>
            </a:r>
          </a:p>
          <a:p>
            <a:pPr>
              <a:defRPr sz="950" b="1">
                <a:solidFill>
                  <a:srgbClr val="262626"/>
                </a:solidFill>
                <a:latin typeface="Arial Black"/>
              </a:defRPr>
            </a:pPr>
            <a:r>
              <a:t>AUTOMATED PAYMENT PROCESSING</a:t>
            </a:r>
          </a:p>
        </p:txBody>
      </p:sp>
      <p:sp>
        <p:nvSpPr>
          <p:cNvPr id="12" name="Rectangle 11"/>
          <p:cNvSpPr/>
          <p:nvPr/>
        </p:nvSpPr>
        <p:spPr>
          <a:xfrm>
            <a:off x="6095390" y="3794760"/>
            <a:ext cx="6095847" cy="3063240"/>
          </a:xfrm>
          <a:prstGeom prst="rect">
            <a:avLst/>
          </a:prstGeom>
          <a:solidFill>
            <a:srgbClr val="F5F5F5"/>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150" y="4069080"/>
            <a:ext cx="5364327" cy="2514600"/>
          </a:xfrm>
          <a:prstGeom prst="rect">
            <a:avLst/>
          </a:prstGeom>
          <a:noFill/>
        </p:spPr>
        <p:txBody>
          <a:bodyPr wrap="square">
            <a:spAutoFit/>
          </a:bodyPr>
          <a:lstStyle/>
          <a:p>
            <a:pPr>
              <a:spcAft>
                <a:spcPts val="600"/>
              </a:spcAft>
              <a:defRPr sz="1000">
                <a:solidFill>
                  <a:srgbClr val="262626"/>
                </a:solidFill>
                <a:latin typeface="Arial Black"/>
              </a:defRPr>
            </a:pPr>
            <a:r>
              <a:t>DEMO STAGE 04  |  ADMIN DASHBOARD</a:t>
            </a:r>
          </a:p>
          <a:p>
            <a:pPr>
              <a:spcAft>
                <a:spcPts val="800"/>
              </a:spcAft>
              <a:defRPr sz="1800" b="1">
                <a:solidFill>
                  <a:srgbClr val="0A0A0A"/>
                </a:solidFill>
                <a:latin typeface="Arial Black"/>
              </a:defRPr>
            </a:pPr>
            <a:r>
              <a:t>Manager Control Screen</a:t>
            </a:r>
          </a:p>
          <a:p>
            <a:pPr>
              <a:spcAft>
                <a:spcPts val="1000"/>
              </a:spcAft>
              <a:defRPr sz="1200">
                <a:solidFill>
                  <a:srgbClr val="3C3C3C"/>
                </a:solidFill>
                <a:latin typeface="Arial"/>
              </a:defRPr>
            </a:pPr>
            <a:r>
              <a:t>The manager's laptop dashboard shows live boarding telemetry, bus locations, ride history, and automated revenue totals in real time.</a:t>
            </a:r>
          </a:p>
          <a:p>
            <a:pPr>
              <a:defRPr sz="950" b="1">
                <a:solidFill>
                  <a:srgbClr val="262626"/>
                </a:solidFill>
                <a:latin typeface="Arial Black"/>
              </a:defRPr>
            </a:pPr>
            <a:r>
              <a:t>LIVE FLEET &amp; REVENUE OVERVIEW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217920" cy="6858000"/>
          </a:xfrm>
          <a:prstGeom prst="rect">
            <a:avLst/>
          </a:prstGeom>
          <a:solidFill>
            <a:srgbClr val="E5EDD6"/>
          </a:solidFill>
          <a:ln w="381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48640"/>
            <a:ext cx="777240" cy="77724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hool-badge.jpeg"/>
          <p:cNvPicPr>
            <a:picLocks noChangeAspect="1"/>
          </p:cNvPicPr>
          <p:nvPr/>
        </p:nvPicPr>
        <p:blipFill>
          <a:blip r:embed="rId2"/>
          <a:stretch>
            <a:fillRect/>
          </a:stretch>
        </p:blipFill>
        <p:spPr>
          <a:xfrm>
            <a:off x="594360" y="594360"/>
            <a:ext cx="685800" cy="771525"/>
          </a:xfrm>
          <a:prstGeom prst="rect">
            <a:avLst/>
          </a:prstGeom>
        </p:spPr>
      </p:pic>
      <p:sp>
        <p:nvSpPr>
          <p:cNvPr id="5" name="TextBox 4"/>
          <p:cNvSpPr txBox="1"/>
          <p:nvPr/>
        </p:nvSpPr>
        <p:spPr>
          <a:xfrm>
            <a:off x="1463040" y="594360"/>
            <a:ext cx="4389120" cy="731520"/>
          </a:xfrm>
          <a:prstGeom prst="rect">
            <a:avLst/>
          </a:prstGeom>
          <a:noFill/>
        </p:spPr>
        <p:txBody>
          <a:bodyPr wrap="none">
            <a:spAutoFit/>
          </a:bodyPr>
          <a:lstStyle/>
          <a:p>
            <a:pPr>
              <a:defRPr sz="1600" b="1">
                <a:solidFill>
                  <a:srgbClr val="0A0A0A"/>
                </a:solidFill>
                <a:latin typeface="Arial Black"/>
              </a:defRPr>
            </a:pPr>
            <a:r>
              <a:t>HYPERION SYSTEMS</a:t>
            </a:r>
          </a:p>
        </p:txBody>
      </p:sp>
      <p:sp>
        <p:nvSpPr>
          <p:cNvPr id="6" name="TextBox 5"/>
          <p:cNvSpPr txBox="1"/>
          <p:nvPr/>
        </p:nvSpPr>
        <p:spPr>
          <a:xfrm>
            <a:off x="548640" y="2011680"/>
            <a:ext cx="5303520" cy="3108960"/>
          </a:xfrm>
          <a:prstGeom prst="rect">
            <a:avLst/>
          </a:prstGeom>
          <a:noFill/>
        </p:spPr>
        <p:txBody>
          <a:bodyPr wrap="square">
            <a:spAutoFit/>
          </a:bodyPr>
          <a:lstStyle/>
          <a:p>
            <a:pPr>
              <a:spcAft>
                <a:spcPts val="800"/>
              </a:spcAft>
              <a:defRPr sz="1050" b="1">
                <a:solidFill>
                  <a:srgbClr val="262626"/>
                </a:solidFill>
                <a:latin typeface="Arial Black"/>
              </a:defRPr>
            </a:pPr>
            <a:r>
              <a:t>CONCLUSION</a:t>
            </a:r>
          </a:p>
          <a:p>
            <a:pPr>
              <a:spcAft>
                <a:spcPts val="1400"/>
              </a:spcAft>
              <a:defRPr sz="3600" b="1">
                <a:solidFill>
                  <a:srgbClr val="0A0A0A"/>
                </a:solidFill>
                <a:latin typeface="Arial Black"/>
              </a:defRPr>
            </a:pPr>
            <a:r>
              <a:t>Smart.</a:t>
            </a:r>
            <a:br/>
            <a:r>
              <a:t>Cashless.</a:t>
            </a:r>
            <a:br/>
            <a:r>
              <a:t>Connected.</a:t>
            </a:r>
          </a:p>
          <a:p>
            <a:pPr>
              <a:defRPr sz="1400" b="1">
                <a:solidFill>
                  <a:srgbClr val="262626"/>
                </a:solidFill>
                <a:latin typeface="Arial"/>
              </a:defRPr>
            </a:pPr>
            <a:r>
              <a:t>Hyperion delivers a reliable, fast, and easy-to-use campus transit system engineered specifically for Nigerian university environments.</a:t>
            </a:r>
          </a:p>
        </p:txBody>
      </p:sp>
      <p:sp>
        <p:nvSpPr>
          <p:cNvPr id="7" name="Rectangle 6"/>
          <p:cNvSpPr/>
          <p:nvPr/>
        </p:nvSpPr>
        <p:spPr>
          <a:xfrm>
            <a:off x="548640" y="5669280"/>
            <a:ext cx="3291840" cy="457200"/>
          </a:xfrm>
          <a:prstGeom prst="rect">
            <a:avLst/>
          </a:prstGeom>
          <a:solidFill>
            <a:srgbClr val="FFFFF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latin typeface="Arial Black"/>
              </a:defRPr>
            </a:pPr>
            <a:r>
              <a:t>SWEP 200 · UNIVERSITY OF ILORIN</a:t>
            </a:r>
          </a:p>
        </p:txBody>
      </p:sp>
      <p:sp>
        <p:nvSpPr>
          <p:cNvPr id="8" name="Rectangle 7"/>
          <p:cNvSpPr/>
          <p:nvPr/>
        </p:nvSpPr>
        <p:spPr>
          <a:xfrm>
            <a:off x="6217920" y="0"/>
            <a:ext cx="5973775" cy="5669280"/>
          </a:xfrm>
          <a:prstGeom prst="rect">
            <a:avLst/>
          </a:prstGeom>
          <a:solidFill>
            <a:srgbClr val="0A0A0A"/>
          </a:solidFill>
          <a:ln w="381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G-20260923-WA0366.jpg"/>
          <p:cNvPicPr>
            <a:picLocks noChangeAspect="1"/>
          </p:cNvPicPr>
          <p:nvPr/>
        </p:nvPicPr>
        <p:blipFill>
          <a:blip r:embed="rId3"/>
          <a:stretch>
            <a:fillRect/>
          </a:stretch>
        </p:blipFill>
        <p:spPr>
          <a:xfrm>
            <a:off x="6217920" y="0"/>
            <a:ext cx="5973775" cy="4474800"/>
          </a:xfrm>
          <a:prstGeom prst="rect">
            <a:avLst/>
          </a:prstGeom>
        </p:spPr>
      </p:pic>
      <p:sp>
        <p:nvSpPr>
          <p:cNvPr id="10" name="Rectangle 9"/>
          <p:cNvSpPr/>
          <p:nvPr/>
        </p:nvSpPr>
        <p:spPr>
          <a:xfrm>
            <a:off x="6217920" y="0"/>
            <a:ext cx="5973775" cy="5669280"/>
          </a:xfrm>
          <a:prstGeom prst="rect">
            <a:avLst/>
          </a:prstGeom>
          <a:solidFill>
            <a:srgbClr val="0A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0" y="914400"/>
            <a:ext cx="5059375" cy="3840480"/>
          </a:xfrm>
          <a:prstGeom prst="rect">
            <a:avLst/>
          </a:prstGeom>
          <a:solidFill>
            <a:srgbClr val="0F0F0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1188720"/>
            <a:ext cx="4510735" cy="3291840"/>
          </a:xfrm>
          <a:prstGeom prst="rect">
            <a:avLst/>
          </a:prstGeom>
          <a:noFill/>
        </p:spPr>
        <p:txBody>
          <a:bodyPr wrap="square">
            <a:spAutoFit/>
          </a:bodyPr>
          <a:lstStyle/>
          <a:p>
            <a:pPr>
              <a:spcAft>
                <a:spcPts val="1800"/>
              </a:spcAft>
              <a:defRPr sz="2200" b="1">
                <a:solidFill>
                  <a:srgbClr val="FFFFFF"/>
                </a:solidFill>
                <a:latin typeface="Arial Black"/>
              </a:defRPr>
            </a:pPr>
            <a:r>
              <a:t>Project Team &amp; Attribution</a:t>
            </a:r>
          </a:p>
          <a:p>
            <a:pPr>
              <a:spcAft>
                <a:spcPts val="1200"/>
              </a:spcAft>
              <a:defRPr sz="1400">
                <a:solidFill>
                  <a:srgbClr val="FFFFFF"/>
                </a:solidFill>
                <a:latin typeface="Arial"/>
              </a:defRPr>
            </a:pPr>
            <a:r>
              <a:t>Exhibition: SWEP 200 Group H (2026)</a:t>
            </a:r>
          </a:p>
          <a:p>
            <a:pPr>
              <a:spcAft>
                <a:spcPts val="1200"/>
              </a:spcAft>
              <a:defRPr sz="1400">
                <a:solidFill>
                  <a:srgbClr val="FFFFFF"/>
                </a:solidFill>
                <a:latin typeface="Arial"/>
              </a:defRPr>
            </a:pPr>
            <a:r>
              <a:t>Institution: University of Ilorin, Nigeria</a:t>
            </a:r>
          </a:p>
          <a:p>
            <a:pPr>
              <a:defRPr sz="1300">
                <a:solidFill>
                  <a:srgbClr val="E5EDD6"/>
                </a:solidFill>
                <a:latin typeface="Courier New"/>
              </a:defRPr>
            </a:pPr>
            <a:r>
              <a:t>Repository: github.com/musamusakannike/hyperion</a:t>
            </a:r>
          </a:p>
        </p:txBody>
      </p:sp>
      <p:sp>
        <p:nvSpPr>
          <p:cNvPr id="13" name="Rectangle 12"/>
          <p:cNvSpPr/>
          <p:nvPr/>
        </p:nvSpPr>
        <p:spPr>
          <a:xfrm>
            <a:off x="6217920" y="5669280"/>
            <a:ext cx="2986887" cy="1188720"/>
          </a:xfrm>
          <a:prstGeom prst="rect">
            <a:avLst/>
          </a:prstGeom>
          <a:solidFill>
            <a:srgbClr val="F2D4CF"/>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5669280"/>
            <a:ext cx="2986887" cy="1188720"/>
          </a:xfrm>
          <a:prstGeom prst="rect">
            <a:avLst/>
          </a:prstGeom>
          <a:noFill/>
        </p:spPr>
        <p:txBody>
          <a:bodyPr wrap="none" anchor="ctr">
            <a:spAutoFit/>
          </a:bodyPr>
          <a:lstStyle/>
          <a:p>
            <a:pPr algn="ctr">
              <a:defRPr sz="1100" b="1">
                <a:solidFill>
                  <a:srgbClr val="0A0A0A"/>
                </a:solidFill>
                <a:latin typeface="Arial Black"/>
              </a:defRPr>
            </a:pPr>
            <a:r>
              <a:t>ENGINEERING DEMO</a:t>
            </a:r>
          </a:p>
        </p:txBody>
      </p:sp>
      <p:sp>
        <p:nvSpPr>
          <p:cNvPr id="15" name="Rectangle 14"/>
          <p:cNvSpPr/>
          <p:nvPr/>
        </p:nvSpPr>
        <p:spPr>
          <a:xfrm>
            <a:off x="9204807" y="5669280"/>
            <a:ext cx="2986887" cy="1188720"/>
          </a:xfrm>
          <a:prstGeom prst="rect">
            <a:avLst/>
          </a:prstGeom>
          <a:solidFill>
            <a:srgbClr val="0A0A0A"/>
          </a:solidFill>
          <a:ln w="2540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4807" y="5669280"/>
            <a:ext cx="2986887" cy="1188720"/>
          </a:xfrm>
          <a:prstGeom prst="rect">
            <a:avLst/>
          </a:prstGeom>
          <a:noFill/>
        </p:spPr>
        <p:txBody>
          <a:bodyPr wrap="none" anchor="ctr">
            <a:spAutoFit/>
          </a:bodyPr>
          <a:lstStyle/>
          <a:p>
            <a:pPr algn="ctr">
              <a:defRPr sz="1100" b="1">
                <a:solidFill>
                  <a:srgbClr val="FFFFFF"/>
                </a:solidFill>
                <a:latin typeface="Arial Black"/>
              </a:defRPr>
            </a:pPr>
            <a:r>
              <a:t>GROUP H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